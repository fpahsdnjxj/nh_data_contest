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77" r:id="rId4"/>
    <p:sldId id="281" r:id="rId5"/>
    <p:sldId id="259" r:id="rId6"/>
    <p:sldId id="270" r:id="rId7"/>
    <p:sldId id="271" r:id="rId8"/>
    <p:sldId id="260" r:id="rId9"/>
    <p:sldId id="272" r:id="rId10"/>
    <p:sldId id="278" r:id="rId11"/>
    <p:sldId id="279" r:id="rId12"/>
    <p:sldId id="280" r:id="rId13"/>
    <p:sldId id="262" r:id="rId14"/>
    <p:sldId id="273" r:id="rId15"/>
    <p:sldId id="274" r:id="rId16"/>
    <p:sldId id="261" r:id="rId17"/>
    <p:sldId id="275" r:id="rId18"/>
    <p:sldId id="276" r:id="rId19"/>
    <p:sldId id="282" r:id="rId20"/>
    <p:sldId id="268" r:id="rId21"/>
  </p:sldIdLst>
  <p:sldSz cx="18288000" cy="10287000"/>
  <p:notesSz cx="6858000" cy="9144000"/>
  <p:embeddedFontLst>
    <p:embeddedFont>
      <p:font typeface="프리젠테이션 4 Regular" pitchFamily="2" charset="-127"/>
      <p:regular r:id="rId22"/>
    </p:embeddedFont>
    <p:embeddedFont>
      <p:font typeface="프리젠테이션 5 Medium" pitchFamily="2" charset="-127"/>
      <p:regular r:id="rId23"/>
    </p:embeddedFont>
    <p:embeddedFont>
      <p:font typeface="프리젠테이션 6 SemiBold" pitchFamily="2" charset="-127"/>
      <p:regular r:id="rId24"/>
      <p:bold r:id="rId25"/>
    </p:embeddedFont>
    <p:embeddedFont>
      <p:font typeface="프리젠테이션 7 Bold" pitchFamily="2" charset="-127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6" autoAdjust="0"/>
    <p:restoredTop sz="94648" autoAdjust="0"/>
  </p:normalViewPr>
  <p:slideViewPr>
    <p:cSldViewPr>
      <p:cViewPr varScale="1">
        <p:scale>
          <a:sx n="26" d="100"/>
          <a:sy n="26" d="100"/>
        </p:scale>
        <p:origin x="72" y="5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민지 박" userId="4d4e7a00c9340891" providerId="LiveId" clId="{1603714E-A703-4296-8EF5-F775D3D09778}"/>
    <pc:docChg chg="undo custSel addSld modSld">
      <pc:chgData name="민지 박" userId="4d4e7a00c9340891" providerId="LiveId" clId="{1603714E-A703-4296-8EF5-F775D3D09778}" dt="2024-11-16T15:33:37.535" v="636" actId="20577"/>
      <pc:docMkLst>
        <pc:docMk/>
      </pc:docMkLst>
      <pc:sldChg chg="modSp mod">
        <pc:chgData name="민지 박" userId="4d4e7a00c9340891" providerId="LiveId" clId="{1603714E-A703-4296-8EF5-F775D3D09778}" dt="2024-11-16T15:07:37.188" v="5" actId="20577"/>
        <pc:sldMkLst>
          <pc:docMk/>
          <pc:sldMk cId="0" sldId="260"/>
        </pc:sldMkLst>
        <pc:spChg chg="mod">
          <ac:chgData name="민지 박" userId="4d4e7a00c9340891" providerId="LiveId" clId="{1603714E-A703-4296-8EF5-F775D3D09778}" dt="2024-11-16T15:07:37.188" v="5" actId="20577"/>
          <ac:spMkLst>
            <pc:docMk/>
            <pc:sldMk cId="0" sldId="260"/>
            <ac:spMk id="35" creationId="{3330AE78-C8C1-BB0E-918A-3D75FA2DF373}"/>
          </ac:spMkLst>
        </pc:spChg>
      </pc:sldChg>
      <pc:sldChg chg="modSp mod">
        <pc:chgData name="민지 박" userId="4d4e7a00c9340891" providerId="LiveId" clId="{1603714E-A703-4296-8EF5-F775D3D09778}" dt="2024-11-16T15:15:39.690" v="10" actId="20577"/>
        <pc:sldMkLst>
          <pc:docMk/>
          <pc:sldMk cId="1185100670" sldId="274"/>
        </pc:sldMkLst>
        <pc:spChg chg="mod">
          <ac:chgData name="민지 박" userId="4d4e7a00c9340891" providerId="LiveId" clId="{1603714E-A703-4296-8EF5-F775D3D09778}" dt="2024-11-16T15:15:39.690" v="10" actId="20577"/>
          <ac:spMkLst>
            <pc:docMk/>
            <pc:sldMk cId="1185100670" sldId="274"/>
            <ac:spMk id="7" creationId="{258DAA51-9D33-C31F-6B34-FADDF4C945D0}"/>
          </ac:spMkLst>
        </pc:spChg>
      </pc:sldChg>
      <pc:sldChg chg="modSp mod">
        <pc:chgData name="민지 박" userId="4d4e7a00c9340891" providerId="LiveId" clId="{1603714E-A703-4296-8EF5-F775D3D09778}" dt="2024-11-16T15:33:29.002" v="632" actId="20577"/>
        <pc:sldMkLst>
          <pc:docMk/>
          <pc:sldMk cId="2712746024" sldId="276"/>
        </pc:sldMkLst>
        <pc:spChg chg="mod">
          <ac:chgData name="민지 박" userId="4d4e7a00c9340891" providerId="LiveId" clId="{1603714E-A703-4296-8EF5-F775D3D09778}" dt="2024-11-16T15:33:29.002" v="632" actId="20577"/>
          <ac:spMkLst>
            <pc:docMk/>
            <pc:sldMk cId="2712746024" sldId="276"/>
            <ac:spMk id="35" creationId="{F7B0BC8C-1581-60D9-7EB9-86A7D7BC1AD5}"/>
          </ac:spMkLst>
        </pc:spChg>
      </pc:sldChg>
      <pc:sldChg chg="modSp mod">
        <pc:chgData name="민지 박" userId="4d4e7a00c9340891" providerId="LiveId" clId="{1603714E-A703-4296-8EF5-F775D3D09778}" dt="2024-11-16T15:08:28.306" v="6" actId="2711"/>
        <pc:sldMkLst>
          <pc:docMk/>
          <pc:sldMk cId="1764077559" sldId="279"/>
        </pc:sldMkLst>
        <pc:spChg chg="mod">
          <ac:chgData name="민지 박" userId="4d4e7a00c9340891" providerId="LiveId" clId="{1603714E-A703-4296-8EF5-F775D3D09778}" dt="2024-11-16T15:08:28.306" v="6" actId="2711"/>
          <ac:spMkLst>
            <pc:docMk/>
            <pc:sldMk cId="1764077559" sldId="279"/>
            <ac:spMk id="35" creationId="{D14E8715-2312-3DD7-879B-294D036E1E87}"/>
          </ac:spMkLst>
        </pc:spChg>
      </pc:sldChg>
      <pc:sldChg chg="modSp mod">
        <pc:chgData name="민지 박" userId="4d4e7a00c9340891" providerId="LiveId" clId="{1603714E-A703-4296-8EF5-F775D3D09778}" dt="2024-11-16T15:09:02.263" v="7" actId="2711"/>
        <pc:sldMkLst>
          <pc:docMk/>
          <pc:sldMk cId="4240366161" sldId="280"/>
        </pc:sldMkLst>
        <pc:spChg chg="mod">
          <ac:chgData name="민지 박" userId="4d4e7a00c9340891" providerId="LiveId" clId="{1603714E-A703-4296-8EF5-F775D3D09778}" dt="2024-11-16T15:09:02.263" v="7" actId="2711"/>
          <ac:spMkLst>
            <pc:docMk/>
            <pc:sldMk cId="4240366161" sldId="280"/>
            <ac:spMk id="35" creationId="{57785CFA-5F3D-DB2C-4F9C-0FAD92D4F18B}"/>
          </ac:spMkLst>
        </pc:spChg>
      </pc:sldChg>
      <pc:sldChg chg="addSp modSp add mod">
        <pc:chgData name="민지 박" userId="4d4e7a00c9340891" providerId="LiveId" clId="{1603714E-A703-4296-8EF5-F775D3D09778}" dt="2024-11-16T15:33:37.535" v="636" actId="20577"/>
        <pc:sldMkLst>
          <pc:docMk/>
          <pc:sldMk cId="747843728" sldId="282"/>
        </pc:sldMkLst>
        <pc:spChg chg="mod">
          <ac:chgData name="민지 박" userId="4d4e7a00c9340891" providerId="LiveId" clId="{1603714E-A703-4296-8EF5-F775D3D09778}" dt="2024-11-16T15:33:37.535" v="636" actId="20577"/>
          <ac:spMkLst>
            <pc:docMk/>
            <pc:sldMk cId="747843728" sldId="282"/>
            <ac:spMk id="35" creationId="{6E466A9C-59C1-FEDD-2BBB-8048A31A771F}"/>
          </ac:spMkLst>
        </pc:spChg>
        <pc:cxnChg chg="add mod">
          <ac:chgData name="민지 박" userId="4d4e7a00c9340891" providerId="LiveId" clId="{1603714E-A703-4296-8EF5-F775D3D09778}" dt="2024-11-16T15:26:49.654" v="627" actId="14100"/>
          <ac:cxnSpMkLst>
            <pc:docMk/>
            <pc:sldMk cId="747843728" sldId="282"/>
            <ac:cxnSpMk id="5" creationId="{D77419CE-315A-919D-5742-98AFC083745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4200" y="1638300"/>
            <a:ext cx="4610100" cy="8648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70100" y="6375400"/>
            <a:ext cx="14084300" cy="3911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41300" y="0"/>
            <a:ext cx="12293600" cy="6400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-234950" y="6457950"/>
            <a:ext cx="12293600" cy="4381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500" y="990600"/>
            <a:ext cx="723900" cy="45719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2192000" y="6184900"/>
            <a:ext cx="4254500" cy="46228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-1263650" y="1119107"/>
            <a:ext cx="4902200" cy="67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3200" b="0" i="0" u="none" strike="noStrike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</a:rPr>
              <a:t>레몬워터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프리젠테이션 7 Bold" pitchFamily="2" charset="-127"/>
                <a:ea typeface="프리젠테이션 7 Bold" pitchFamily="2" charset="-127"/>
              </a:rPr>
              <a:t> </a:t>
            </a:r>
            <a:endParaRPr lang="ko-KR" sz="3200" b="0" i="0" u="none" strike="noStrike" dirty="0">
              <a:solidFill>
                <a:srgbClr val="FFFFFF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-12485" y="2911314"/>
            <a:ext cx="11772900" cy="2222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700" b="0" i="0" u="none" strike="noStrike" dirty="0">
                <a:solidFill>
                  <a:srgbClr val="FFFFFF"/>
                </a:solidFill>
                <a:latin typeface="프리젠테이션 7 Bold" pitchFamily="2" charset="-127"/>
                <a:ea typeface="프리젠테이션 7 Bold" pitchFamily="2" charset="-127"/>
              </a:rPr>
              <a:t>뉴스 기반 생성형 </a:t>
            </a:r>
            <a:r>
              <a:rPr lang="en-US" altLang="ko-KR" sz="6700" b="0" i="0" u="none" strike="noStrike" dirty="0">
                <a:solidFill>
                  <a:srgbClr val="FFFFFF"/>
                </a:solidFill>
                <a:latin typeface="프리젠테이션 7 Bold" pitchFamily="2" charset="-127"/>
                <a:ea typeface="프리젠테이션 7 Bold" pitchFamily="2" charset="-127"/>
              </a:rPr>
              <a:t>AI ETF </a:t>
            </a:r>
            <a:r>
              <a:rPr lang="ko-KR" altLang="en-US" sz="6700" b="0" i="0" u="none" strike="noStrike" dirty="0">
                <a:solidFill>
                  <a:srgbClr val="FFFFFF"/>
                </a:solidFill>
                <a:latin typeface="프리젠테이션 7 Bold" pitchFamily="2" charset="-127"/>
                <a:ea typeface="프리젠테이션 7 Bold" pitchFamily="2" charset="-127"/>
              </a:rPr>
              <a:t>큐레이션 보고서 제작 서비스</a:t>
            </a:r>
            <a:endParaRPr lang="ko-KR" sz="6700" b="0" i="0" u="none" strike="noStrike" dirty="0">
              <a:solidFill>
                <a:srgbClr val="FFFFFF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941300" y="520700"/>
            <a:ext cx="49657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endParaRPr lang="ko-KR" sz="2500" b="0" i="0" u="none" strike="noStrike" spc="200" dirty="0">
              <a:solidFill>
                <a:srgbClr val="004671"/>
              </a:solidFill>
              <a:ea typeface="Hallym Gothic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766800" y="8432800"/>
            <a:ext cx="2362200" cy="154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22839"/>
              </a:lnSpc>
            </a:pPr>
            <a:r>
              <a:rPr lang="ko-KR" altLang="en-US" sz="2800" b="0" i="0" u="none" strike="noStrike" spc="200" dirty="0" err="1">
                <a:solidFill>
                  <a:srgbClr val="FFFFFF"/>
                </a:solidFill>
                <a:ea typeface="Hallym Gothic Bold"/>
              </a:rPr>
              <a:t>조은진</a:t>
            </a:r>
            <a:endParaRPr lang="en-US" altLang="ko-KR" sz="2800" b="0" i="0" u="none" strike="noStrike" spc="200" dirty="0">
              <a:solidFill>
                <a:srgbClr val="FFFFFF"/>
              </a:solidFill>
              <a:ea typeface="Hallym Gothic Bold"/>
            </a:endParaRPr>
          </a:p>
          <a:p>
            <a:pPr lvl="0" algn="r">
              <a:lnSpc>
                <a:spcPct val="122839"/>
              </a:lnSpc>
            </a:pPr>
            <a:r>
              <a:rPr lang="ko-KR" altLang="en-US" sz="2800" b="0" i="0" u="none" strike="noStrike" spc="200" dirty="0">
                <a:solidFill>
                  <a:srgbClr val="FFFFFF"/>
                </a:solidFill>
                <a:ea typeface="Hallym Gothic Bold"/>
              </a:rPr>
              <a:t>이수현</a:t>
            </a:r>
            <a:endParaRPr lang="en-US" altLang="ko-KR" sz="2800" b="0" i="0" u="none" strike="noStrike" spc="200" dirty="0">
              <a:solidFill>
                <a:srgbClr val="FFFFFF"/>
              </a:solidFill>
              <a:ea typeface="Hallym Gothic Bold"/>
            </a:endParaRPr>
          </a:p>
          <a:p>
            <a:pPr lvl="0" algn="r">
              <a:lnSpc>
                <a:spcPct val="122839"/>
              </a:lnSpc>
            </a:pPr>
            <a:r>
              <a:rPr lang="ko-KR" altLang="en-US" sz="2800" b="0" i="0" u="none" strike="noStrike" spc="200" dirty="0">
                <a:solidFill>
                  <a:srgbClr val="FFFFFF"/>
                </a:solidFill>
                <a:ea typeface="Hallym Gothic Bold"/>
              </a:rPr>
              <a:t>박민지</a:t>
            </a:r>
            <a:endParaRPr lang="ko-KR" sz="2800" b="0" i="0" u="none" strike="noStrike" spc="200" dirty="0">
              <a:solidFill>
                <a:srgbClr val="FFFFFF"/>
              </a:solidFill>
              <a:ea typeface="Hallym Gothic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193800"/>
            <a:ext cx="17030700" cy="8407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300" y="469900"/>
            <a:ext cx="5346700" cy="736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2120900" y="4483100"/>
            <a:ext cx="140462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0" y="2330450"/>
            <a:ext cx="5562600" cy="77343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7010400" y="609600"/>
            <a:ext cx="42672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altLang="en-US" sz="2400" b="0" i="0" u="none" strike="noStrike" spc="500" dirty="0">
                <a:solidFill>
                  <a:srgbClr val="FFFFFF"/>
                </a:solidFill>
                <a:ea typeface="Atomy Medium"/>
              </a:rPr>
              <a:t>레몬워터</a:t>
            </a:r>
            <a:endParaRPr lang="ko-KR" sz="2400" b="0" i="0" u="none" strike="noStrike" spc="500" dirty="0">
              <a:solidFill>
                <a:srgbClr val="FFFFFF"/>
              </a:solidFill>
              <a:ea typeface="Atomy Medium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6400" y="1790700"/>
            <a:ext cx="5956300" cy="2933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108200" y="3517900"/>
            <a:ext cx="83185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ko-KR" sz="2500" b="0" i="0" u="none" strike="noStrike" dirty="0">
                <a:solidFill>
                  <a:srgbClr val="FBFBFB"/>
                </a:solidFill>
                <a:latin typeface="프리젠테이션 7 Bold" pitchFamily="2" charset="-127"/>
                <a:ea typeface="프리젠테이션 7 Bold" pitchFamily="2" charset="-127"/>
              </a:rPr>
              <a:t>프레젠테이션</a:t>
            </a:r>
            <a:r>
              <a:rPr lang="en-US" sz="2500" b="0" i="0" u="none" strike="noStrike" dirty="0">
                <a:solidFill>
                  <a:srgbClr val="FBFBFB"/>
                </a:solidFill>
                <a:latin typeface="프리젠테이션 7 Bold" pitchFamily="2" charset="-127"/>
                <a:ea typeface="프리젠테이션 7 Bold" pitchFamily="2" charset="-127"/>
              </a:rPr>
              <a:t> </a:t>
            </a:r>
            <a:r>
              <a:rPr lang="ko-KR" sz="2500" b="0" i="0" u="none" strike="noStrike" dirty="0">
                <a:solidFill>
                  <a:srgbClr val="FBFBFB"/>
                </a:solidFill>
                <a:latin typeface="프리젠테이션 7 Bold" pitchFamily="2" charset="-127"/>
                <a:ea typeface="프리젠테이션 7 Bold" pitchFamily="2" charset="-127"/>
              </a:rPr>
              <a:t>목차</a:t>
            </a:r>
            <a:r>
              <a:rPr lang="en-US" sz="2500" b="0" i="0" u="none" strike="noStrike" dirty="0">
                <a:solidFill>
                  <a:srgbClr val="FBFBFB"/>
                </a:solidFill>
                <a:latin typeface="프리젠테이션 7 Bold" pitchFamily="2" charset="-127"/>
                <a:ea typeface="프리젠테이션 7 Bold" pitchFamily="2" charset="-127"/>
              </a:rPr>
              <a:t> </a:t>
            </a:r>
            <a:r>
              <a:rPr lang="ko-KR" sz="2500" b="0" i="0" u="none" strike="noStrike" dirty="0">
                <a:solidFill>
                  <a:srgbClr val="FBFBFB"/>
                </a:solidFill>
                <a:latin typeface="프리젠테이션 7 Bold" pitchFamily="2" charset="-127"/>
                <a:ea typeface="프리젠테이션 7 Bold" pitchFamily="2" charset="-127"/>
              </a:rPr>
              <a:t>안내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8200" y="4902200"/>
            <a:ext cx="4673600" cy="9906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679700" y="5207000"/>
            <a:ext cx="35306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2300" b="0" i="0" u="none" strike="noStrike" dirty="0">
                <a:solidFill>
                  <a:schemeClr val="tx2">
                    <a:lumMod val="75000"/>
                  </a:schemeClr>
                </a:solidFill>
                <a:latin typeface="Hallym Gothic Medium"/>
              </a:rPr>
              <a:t> </a:t>
            </a:r>
            <a:r>
              <a:rPr lang="en-US" altLang="ko-KR" sz="2300" b="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5 Medium" pitchFamily="2" charset="-127"/>
                <a:ea typeface="프리젠테이션 5 Medium" pitchFamily="2" charset="-127"/>
              </a:rPr>
              <a:t>1. </a:t>
            </a:r>
            <a:r>
              <a:rPr lang="ko-KR" altLang="en-US" sz="2300" b="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5 Medium" pitchFamily="2" charset="-127"/>
                <a:ea typeface="프리젠테이션 5 Medium" pitchFamily="2" charset="-127"/>
              </a:rPr>
              <a:t>보고서의 흐름 </a:t>
            </a:r>
            <a:endParaRPr lang="ko-KR" sz="2300" b="0" i="0" u="none" strike="noStrike" dirty="0">
              <a:solidFill>
                <a:schemeClr val="tx2">
                  <a:lumMod val="75000"/>
                </a:schemeClr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0100" y="4902200"/>
            <a:ext cx="4673600" cy="9906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7308850" y="5007244"/>
            <a:ext cx="4229100" cy="812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8729"/>
              </a:lnSpc>
            </a:pPr>
            <a:r>
              <a:rPr lang="en-US" altLang="ko-KR" sz="2300" b="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5 Medium" pitchFamily="2" charset="-127"/>
                <a:ea typeface="프리젠테이션 5 Medium" pitchFamily="2" charset="-127"/>
              </a:rPr>
              <a:t>4. </a:t>
            </a:r>
            <a:r>
              <a:rPr lang="ko-KR" altLang="en-US" sz="2300" b="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5 Medium" pitchFamily="2" charset="-127"/>
                <a:ea typeface="프리젠테이션 5 Medium" pitchFamily="2" charset="-127"/>
              </a:rPr>
              <a:t>데이터 활용</a:t>
            </a:r>
            <a:endParaRPr lang="ko-KR" sz="2300" b="0" i="0" u="none" strike="noStrike" dirty="0">
              <a:solidFill>
                <a:schemeClr val="tx2">
                  <a:lumMod val="75000"/>
                </a:schemeClr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08200" y="6197600"/>
            <a:ext cx="4673600" cy="9906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2514600" y="6242050"/>
            <a:ext cx="38608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altLang="ko-KR" sz="2300" b="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5 Medium" pitchFamily="2" charset="-127"/>
                <a:ea typeface="프리젠테이션 5 Medium" pitchFamily="2" charset="-127"/>
              </a:rPr>
              <a:t>2. </a:t>
            </a:r>
            <a:r>
              <a:rPr lang="ko-KR" altLang="en-US" sz="2300" b="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5 Medium" pitchFamily="2" charset="-127"/>
                <a:ea typeface="프리젠테이션 5 Medium" pitchFamily="2" charset="-127"/>
              </a:rPr>
              <a:t>경제적 지표</a:t>
            </a:r>
            <a:endParaRPr lang="ko-KR" sz="2300" b="0" i="0" u="none" strike="noStrike" dirty="0">
              <a:solidFill>
                <a:schemeClr val="tx2">
                  <a:lumMod val="75000"/>
                </a:schemeClr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0100" y="6197600"/>
            <a:ext cx="4673600" cy="9906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8480587" y="6464300"/>
            <a:ext cx="35306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endParaRPr lang="en-US" altLang="ko-KR" sz="2300" b="0" i="0" u="none" strike="noStrike" dirty="0">
              <a:solidFill>
                <a:srgbClr val="010149"/>
              </a:solidFill>
              <a:ea typeface="Hallym Gothic Medium"/>
            </a:endParaRPr>
          </a:p>
          <a:p>
            <a:pPr lvl="0" algn="l">
              <a:lnSpc>
                <a:spcPct val="124499"/>
              </a:lnSpc>
            </a:pPr>
            <a:r>
              <a:rPr lang="en-US" altLang="ko-KR" sz="2300" b="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5 Medium" pitchFamily="2" charset="-127"/>
                <a:ea typeface="프리젠테이션 5 Medium" pitchFamily="2" charset="-127"/>
              </a:rPr>
              <a:t>5. </a:t>
            </a:r>
            <a:r>
              <a:rPr lang="ko-KR" altLang="en-US" sz="2300" b="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5 Medium" pitchFamily="2" charset="-127"/>
                <a:ea typeface="프리젠테이션 5 Medium" pitchFamily="2" charset="-127"/>
              </a:rPr>
              <a:t>사용한 </a:t>
            </a:r>
            <a:r>
              <a:rPr lang="en-US" altLang="ko-KR" sz="2300" b="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5 Medium" pitchFamily="2" charset="-127"/>
                <a:ea typeface="프리젠테이션 5 Medium" pitchFamily="2" charset="-127"/>
              </a:rPr>
              <a:t>LLM </a:t>
            </a:r>
            <a:r>
              <a:rPr lang="ko-KR" altLang="en-US" sz="2300" b="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5 Medium" pitchFamily="2" charset="-127"/>
                <a:ea typeface="프리젠테이션 5 Medium" pitchFamily="2" charset="-127"/>
              </a:rPr>
              <a:t>기술</a:t>
            </a:r>
            <a:endParaRPr lang="en-US" altLang="ko-KR" sz="2300" b="0" i="0" u="none" strike="noStrike" dirty="0">
              <a:solidFill>
                <a:schemeClr val="tx2">
                  <a:lumMod val="75000"/>
                </a:schemeClr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lvl="0" algn="l">
              <a:lnSpc>
                <a:spcPct val="124499"/>
              </a:lnSpc>
            </a:pPr>
            <a:endParaRPr lang="ko-KR" sz="2300" b="0" i="0" u="none" strike="noStrike" dirty="0">
              <a:solidFill>
                <a:srgbClr val="010149"/>
              </a:solidFill>
              <a:ea typeface="Hallym Gothic Medium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08200" y="7480300"/>
            <a:ext cx="4673600" cy="9906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2382434" y="7480300"/>
            <a:ext cx="4544232" cy="1308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24499"/>
              </a:lnSpc>
            </a:pPr>
            <a:r>
              <a:rPr lang="en-US" altLang="ko-KR" sz="2300" b="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5 Medium" pitchFamily="2" charset="-127"/>
                <a:ea typeface="프리젠테이션 5 Medium" pitchFamily="2" charset="-127"/>
              </a:rPr>
              <a:t>3. </a:t>
            </a:r>
            <a:r>
              <a:rPr lang="ko-KR" altLang="en-US" sz="2300" b="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5 Medium" pitchFamily="2" charset="-127"/>
                <a:ea typeface="프리젠테이션 5 Medium" pitchFamily="2" charset="-127"/>
              </a:rPr>
              <a:t>타 서비스와의 차별성 및 경제적 효용성</a:t>
            </a:r>
          </a:p>
          <a:p>
            <a:pPr lvl="0">
              <a:lnSpc>
                <a:spcPct val="124499"/>
              </a:lnSpc>
            </a:pPr>
            <a:endParaRPr lang="en-US" sz="2300" b="0" i="0" u="none" strike="noStrike" dirty="0">
              <a:solidFill>
                <a:schemeClr val="tx2">
                  <a:lumMod val="75000"/>
                </a:schemeClr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pic>
        <p:nvPicPr>
          <p:cNvPr id="24" name="Picture 9">
            <a:extLst>
              <a:ext uri="{FF2B5EF4-FFF2-40B4-BE49-F238E27FC236}">
                <a16:creationId xmlns:a16="http://schemas.microsoft.com/office/drawing/2014/main" id="{75D6D7F1-FC93-5337-8D2D-366842FDFB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7400" y="7480300"/>
            <a:ext cx="4673600" cy="9906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F64630F-220E-EE48-E435-2EAB4808CCE7}"/>
              </a:ext>
            </a:extLst>
          </p:cNvPr>
          <p:cNvSpPr txBox="1"/>
          <p:nvPr/>
        </p:nvSpPr>
        <p:spPr>
          <a:xfrm>
            <a:off x="8417732" y="7725286"/>
            <a:ext cx="3708400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>
                <a:solidFill>
                  <a:schemeClr val="tx2">
                    <a:lumMod val="75000"/>
                  </a:schemeClr>
                </a:solidFill>
                <a:latin typeface="프리젠테이션 5 Medium" pitchFamily="2" charset="-127"/>
                <a:ea typeface="프리젠테이션 5 Medium" pitchFamily="2" charset="-127"/>
              </a:rPr>
              <a:t>6. </a:t>
            </a:r>
            <a:r>
              <a:rPr lang="ko-KR" altLang="en-US" sz="2300" dirty="0">
                <a:solidFill>
                  <a:schemeClr val="tx2">
                    <a:lumMod val="75000"/>
                  </a:schemeClr>
                </a:solidFill>
                <a:latin typeface="프리젠테이션 5 Medium" pitchFamily="2" charset="-127"/>
                <a:ea typeface="프리젠테이션 5 Medium" pitchFamily="2" charset="-127"/>
              </a:rPr>
              <a:t>서비스의 확장성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700" y="546100"/>
            <a:ext cx="723900" cy="635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4864100" y="1005820"/>
            <a:ext cx="85471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+mn-cs"/>
              </a:rPr>
              <a:t>1. </a:t>
            </a: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+mn-cs"/>
              </a:rPr>
              <a:t>보고서의  흐름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87600" y="1831647"/>
            <a:ext cx="13525500" cy="1346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+mn-cs"/>
              </a:rPr>
              <a:t> 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B31145D-F86C-857D-C8DE-4EE515C65C59}"/>
              </a:ext>
            </a:extLst>
          </p:cNvPr>
          <p:cNvSpPr/>
          <p:nvPr/>
        </p:nvSpPr>
        <p:spPr>
          <a:xfrm>
            <a:off x="3810000" y="4356100"/>
            <a:ext cx="11379200" cy="2133600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2.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주요 경제 지표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금리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,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고용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,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인플레이션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,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주요 주가지수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,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경제 성장률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,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금리 정책 데이터 수집 및 정리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프리젠테이션 4 Regular" pitchFamily="2" charset="-127"/>
              <a:ea typeface="프리젠테이션 4 Regular" pitchFamily="2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전반적인 경제 상황을 진단하고 시장 환경을 평가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이를 통해 투자 전략의 방향성을 도출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프리젠테이션 4 Regular" pitchFamily="2" charset="-127"/>
              <a:ea typeface="프리젠테이션 4 Regular" pitchFamily="2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64E2413-5E5F-6096-5448-C3DED7CDB8B8}"/>
              </a:ext>
            </a:extLst>
          </p:cNvPr>
          <p:cNvSpPr/>
          <p:nvPr/>
        </p:nvSpPr>
        <p:spPr>
          <a:xfrm>
            <a:off x="3810000" y="7072609"/>
            <a:ext cx="11379200" cy="2208571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3.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뉴스 관련 산업 목록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프리젠테이션 4 Regular" pitchFamily="2" charset="-127"/>
              <a:ea typeface="프리젠테이션 4 Regular" pitchFamily="2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사용자 지정 뉴스 주제를 기반으로 추천되는 투자 산업 도출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프리젠테이션 4 Regular" pitchFamily="2" charset="-127"/>
              <a:ea typeface="프리젠테이션 4 Regular" pitchFamily="2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선정된 산업의 주식 비중이 자산의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10%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이상인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ETF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선정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프리젠테이션 4 Regular" pitchFamily="2" charset="-127"/>
              <a:ea typeface="프리젠테이션 4 Regular" pitchFamily="2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2697410-E8C5-A2A9-A8E4-58AF71B61385}"/>
              </a:ext>
            </a:extLst>
          </p:cNvPr>
          <p:cNvSpPr/>
          <p:nvPr/>
        </p:nvSpPr>
        <p:spPr>
          <a:xfrm>
            <a:off x="3810000" y="2299929"/>
            <a:ext cx="11379200" cy="1524000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1.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 보고서의 목적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 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프리젠테이션 4 Regular" pitchFamily="2" charset="-127"/>
              <a:ea typeface="프리젠테이션 4 Regular" pitchFamily="2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사용자 지정 뉴스 주제를 기반으로 관련 산업을 선정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 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9EE2-FF89-EF71-8E47-AC38AFC69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440FFF8-A06D-FFD8-F26F-A21B118A2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700" y="546100"/>
            <a:ext cx="723900" cy="635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1998BBC3-4DDC-0086-1A0B-41E059FBDCBC}"/>
              </a:ext>
            </a:extLst>
          </p:cNvPr>
          <p:cNvSpPr txBox="1"/>
          <p:nvPr/>
        </p:nvSpPr>
        <p:spPr>
          <a:xfrm>
            <a:off x="4864100" y="1005820"/>
            <a:ext cx="85471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+mn-cs"/>
              </a:rPr>
              <a:t>1. </a:t>
            </a: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+mn-cs"/>
              </a:rPr>
              <a:t>보고서의  흐름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F051EEF-3B15-539D-EF8E-DBA1436172D7}"/>
              </a:ext>
            </a:extLst>
          </p:cNvPr>
          <p:cNvSpPr txBox="1"/>
          <p:nvPr/>
        </p:nvSpPr>
        <p:spPr>
          <a:xfrm>
            <a:off x="2387600" y="1831647"/>
            <a:ext cx="13525500" cy="1346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+mn-cs"/>
              </a:rPr>
              <a:t> 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DA5EE1E-E38C-12A9-0B2E-8AC11F6DE63B}"/>
              </a:ext>
            </a:extLst>
          </p:cNvPr>
          <p:cNvSpPr/>
          <p:nvPr/>
        </p:nvSpPr>
        <p:spPr>
          <a:xfrm>
            <a:off x="3810000" y="2740742"/>
            <a:ext cx="11379200" cy="2362200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4. ETF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추천 보고서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프리젠테이션 4 Regular" pitchFamily="2" charset="-127"/>
              <a:ea typeface="프리젠테이션 4 Regular" pitchFamily="2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선정된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ETF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의 평가지표 도출 및 필터링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평가지표를 기반으로  최종 추천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ETF 5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개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선별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프리젠테이션 4 Regular" pitchFamily="2" charset="-127"/>
              <a:ea typeface="프리젠테이션 4 Regular" pitchFamily="2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각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ETF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에 대한 설명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,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자산 비중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, ETF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평가 지표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,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추천 이유를 담은 보고서 생성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프리젠테이션 4 Regular" pitchFamily="2" charset="-127"/>
              <a:ea typeface="프리젠테이션 4 Regular" pitchFamily="2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2A3A01F-71CF-A575-F5B7-9DD7E84CD055}"/>
              </a:ext>
            </a:extLst>
          </p:cNvPr>
          <p:cNvSpPr/>
          <p:nvPr/>
        </p:nvSpPr>
        <p:spPr>
          <a:xfrm>
            <a:off x="3837039" y="5905500"/>
            <a:ext cx="11379200" cy="2747359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5.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추천 포트폴리오 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프리젠테이션 4 Regular" pitchFamily="2" charset="-127"/>
              <a:ea typeface="프리젠테이션 4 Regular" pitchFamily="2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최종 추천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ETF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의 연령 및 자산별 선호도를 분석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프리젠테이션 4 Regular" pitchFamily="2" charset="-127"/>
              <a:ea typeface="프리젠테이션 4 Regular" pitchFamily="2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선호도 분석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, ETF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추천 이유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,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경제 지표를 바탕으로 분기별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(3/6/9/12)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포트폴리오 구성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프리젠테이션 4 Regular" pitchFamily="2" charset="-127"/>
              <a:ea typeface="프리젠테이션 4 Regular" pitchFamily="2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사용자의 추가 정보를 반영하여 가장 적합한 분기의 포트폴리오를 최종 선정</a:t>
            </a:r>
          </a:p>
        </p:txBody>
      </p:sp>
    </p:spTree>
    <p:extLst>
      <p:ext uri="{BB962C8B-B14F-4D97-AF65-F5344CB8AC3E}">
        <p14:creationId xmlns:p14="http://schemas.microsoft.com/office/powerpoint/2010/main" val="4133402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700" y="546100"/>
            <a:ext cx="723900" cy="63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2755900" y="1981200"/>
            <a:ext cx="13512800" cy="990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9600" y="3441700"/>
            <a:ext cx="3746500" cy="3746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200" y="5524500"/>
            <a:ext cx="3657600" cy="3657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7025" y="5524500"/>
            <a:ext cx="3657600" cy="3657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6400" y="3632200"/>
            <a:ext cx="254000" cy="254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4864100" y="1003300"/>
            <a:ext cx="85471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4400" b="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2. </a:t>
            </a:r>
            <a:r>
              <a:rPr lang="ko-KR" altLang="en-US" sz="4400" b="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경제적 평가 지표</a:t>
            </a:r>
            <a:endParaRPr lang="ko-KR" sz="4400" b="0" i="0" u="none" strike="noStrike" dirty="0">
              <a:solidFill>
                <a:schemeClr val="tx2">
                  <a:lumMod val="7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574800" y="2146300"/>
            <a:ext cx="15138400" cy="68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800" b="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ETF </a:t>
            </a:r>
            <a:r>
              <a:rPr lang="ko-KR" altLang="en-US" sz="2800" b="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추천에서 경제적 평가 지표의 목적과 중요성</a:t>
            </a:r>
            <a:endParaRPr lang="ko-KR" sz="2800" b="0" i="0" u="none" strike="noStrike" dirty="0">
              <a:solidFill>
                <a:schemeClr val="tx2">
                  <a:lumMod val="7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3632200" y="4381500"/>
            <a:ext cx="2692400" cy="1054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79679"/>
              </a:lnSpc>
            </a:pPr>
            <a:r>
              <a:rPr lang="ko-KR" altLang="en-US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유동성 지표</a:t>
            </a:r>
            <a:endParaRPr lang="en-US" altLang="ko-KR" sz="3200" b="0" i="0" u="none" strike="noStrike" dirty="0">
              <a:solidFill>
                <a:srgbClr val="FFFFFF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lvl="0" algn="ctr">
              <a:lnSpc>
                <a:spcPct val="79679"/>
              </a:lnSpc>
            </a:pPr>
            <a:r>
              <a:rPr lang="en-US" altLang="ko-KR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-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누적 거래량</a:t>
            </a:r>
            <a:endParaRPr lang="en-US" altLang="ko-KR" sz="3200" b="0" i="0" u="none" strike="noStrike" dirty="0">
              <a:solidFill>
                <a:srgbClr val="FFFFFF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lvl="0" algn="ctr">
              <a:lnSpc>
                <a:spcPct val="79679"/>
              </a:lnSpc>
            </a:pPr>
            <a:r>
              <a:rPr lang="en-US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- 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거래대금</a:t>
            </a:r>
            <a:endParaRPr lang="en-US" sz="3200" b="0" i="0" u="none" strike="noStrike" dirty="0">
              <a:solidFill>
                <a:srgbClr val="FFFFFF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85800" y="6210301"/>
            <a:ext cx="5549900" cy="260984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0509"/>
              </a:lnSpc>
            </a:pPr>
            <a:r>
              <a:rPr lang="ko-KR" altLang="en-US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수익성 지표</a:t>
            </a:r>
            <a:endParaRPr lang="en-US" altLang="ko-KR" sz="3200" b="0" i="0" u="none" strike="noStrike" dirty="0">
              <a:solidFill>
                <a:srgbClr val="FFFFFF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lvl="0" algn="ctr">
              <a:lnSpc>
                <a:spcPct val="80509"/>
              </a:lnSpc>
            </a:pPr>
            <a:r>
              <a:rPr lang="en-US" altLang="ko-KR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-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누적 수익률 </a:t>
            </a:r>
            <a:r>
              <a:rPr lang="en-US" altLang="ko-KR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Z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점수</a:t>
            </a:r>
            <a:endParaRPr lang="en-US" altLang="ko-KR" sz="3200" b="0" i="0" u="none" strike="noStrike" dirty="0">
              <a:solidFill>
                <a:srgbClr val="FFFFFF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lvl="0" algn="ctr">
              <a:lnSpc>
                <a:spcPct val="80509"/>
              </a:lnSpc>
            </a:pPr>
            <a:r>
              <a:rPr lang="en-US" altLang="ko-KR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-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정보비율 </a:t>
            </a:r>
            <a:r>
              <a:rPr lang="en-US" altLang="ko-KR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Z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점수</a:t>
            </a:r>
            <a:endParaRPr lang="en-US" altLang="ko-KR" sz="3200" b="0" i="0" u="none" strike="noStrike" dirty="0">
              <a:solidFill>
                <a:srgbClr val="FFFFFF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lvl="0" algn="ctr">
              <a:lnSpc>
                <a:spcPct val="80509"/>
              </a:lnSpc>
            </a:pPr>
            <a:endParaRPr lang="en-US" sz="3600" b="0" i="0" u="none" strike="noStrike" dirty="0">
              <a:solidFill>
                <a:srgbClr val="FFFFFF"/>
              </a:solidFill>
              <a:latin typeface="Hallym Gothic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5203824" y="6505575"/>
            <a:ext cx="2635251" cy="162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안정성 지표</a:t>
            </a:r>
            <a:endParaRPr lang="en-US" altLang="ko-KR" sz="3200" b="0" i="0" u="none" strike="noStrike" dirty="0">
              <a:solidFill>
                <a:srgbClr val="FFFFFF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lvl="0" algn="ctr">
              <a:lnSpc>
                <a:spcPct val="99600"/>
              </a:lnSpc>
            </a:pPr>
            <a:r>
              <a:rPr lang="en-US" altLang="ko-KR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-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최대 낙폭 </a:t>
            </a:r>
            <a:r>
              <a:rPr lang="en-US" altLang="ko-KR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Z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점수</a:t>
            </a:r>
            <a:endParaRPr lang="en-US" sz="3200" b="0" i="0" u="none" strike="noStrike" dirty="0">
              <a:solidFill>
                <a:srgbClr val="FFFFFF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753600" y="3429000"/>
            <a:ext cx="67056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600" b="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유동성 지표</a:t>
            </a:r>
            <a:r>
              <a:rPr lang="en-US" altLang="ko-KR" sz="3600" b="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(</a:t>
            </a:r>
            <a:r>
              <a:rPr lang="ko-KR" altLang="en-US" sz="3600" b="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누적 거래량</a:t>
            </a:r>
            <a:r>
              <a:rPr lang="en-US" altLang="ko-KR" sz="3600" b="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,</a:t>
            </a:r>
            <a:r>
              <a:rPr lang="ko-KR" altLang="en-US" sz="3600" b="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거래대금</a:t>
            </a:r>
            <a:r>
              <a:rPr lang="en-US" altLang="ko-KR" sz="3600" b="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)</a:t>
            </a:r>
            <a:endParaRPr lang="ko-KR" sz="3600" b="0" i="0" u="none" strike="noStrike" dirty="0">
              <a:solidFill>
                <a:schemeClr val="tx2">
                  <a:lumMod val="7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423400" y="4267200"/>
            <a:ext cx="8915399" cy="5892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0000"/>
              </a:lnSpc>
            </a:pPr>
            <a:r>
              <a:rPr lang="ko-KR" altLang="en-US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유동성 평가의 핵심 지표</a:t>
            </a:r>
            <a:endParaRPr lang="en-US" altLang="ko-KR" sz="3000" i="0" u="none" strike="noStrike" dirty="0">
              <a:solidFill>
                <a:schemeClr val="tx2">
                  <a:lumMod val="75000"/>
                </a:schemeClr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lvl="0" algn="l">
              <a:lnSpc>
                <a:spcPct val="150000"/>
              </a:lnSpc>
            </a:pPr>
            <a:r>
              <a:rPr lang="ko-KR" altLang="en-US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누적 거래량</a:t>
            </a:r>
            <a:r>
              <a:rPr lang="en-US" altLang="ko-KR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ko-KR" altLang="en-US" sz="3000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거래대금</a:t>
            </a:r>
            <a:r>
              <a:rPr lang="en-US" altLang="ko-KR" sz="3000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)</a:t>
            </a:r>
            <a:r>
              <a:rPr lang="ko-KR" altLang="en-US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은 </a:t>
            </a:r>
            <a:r>
              <a:rPr lang="en-US" altLang="ko-KR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ETF</a:t>
            </a:r>
            <a:r>
              <a:rPr lang="ko-KR" altLang="en-US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의 유동성을 나타내며</a:t>
            </a:r>
            <a:r>
              <a:rPr lang="en-US" altLang="ko-KR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, </a:t>
            </a:r>
          </a:p>
          <a:p>
            <a:pPr lvl="0" algn="l">
              <a:lnSpc>
                <a:spcPct val="150000"/>
              </a:lnSpc>
            </a:pPr>
            <a:r>
              <a:rPr lang="ko-KR" altLang="en-US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투자자들이 </a:t>
            </a:r>
            <a:r>
              <a:rPr lang="en-US" altLang="ko-KR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ETF</a:t>
            </a:r>
            <a:r>
              <a:rPr lang="ko-KR" altLang="en-US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를 사고팔 때 발생할 수 있는 비용을 최소화</a:t>
            </a:r>
            <a:endParaRPr lang="en-US" altLang="ko-KR" sz="3000" i="0" u="none" strike="noStrike" dirty="0">
              <a:solidFill>
                <a:schemeClr val="tx2">
                  <a:lumMod val="75000"/>
                </a:schemeClr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lvl="0" algn="l">
              <a:lnSpc>
                <a:spcPct val="150000"/>
              </a:lnSpc>
            </a:pPr>
            <a:r>
              <a:rPr lang="en-US" altLang="ko-KR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&gt;&gt;</a:t>
            </a:r>
            <a:r>
              <a:rPr lang="ko-KR" altLang="en-US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효율적인 시장 거래를 가능하게 함</a:t>
            </a:r>
            <a:endParaRPr lang="en-US" altLang="ko-KR" sz="3000" i="0" u="none" strike="noStrike" dirty="0">
              <a:solidFill>
                <a:schemeClr val="tx2">
                  <a:lumMod val="75000"/>
                </a:schemeClr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lvl="0" algn="l">
              <a:lnSpc>
                <a:spcPct val="150000"/>
              </a:lnSpc>
            </a:pPr>
            <a:r>
              <a:rPr lang="ko-KR" altLang="en-US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누적 거래량이 높은 </a:t>
            </a:r>
            <a:r>
              <a:rPr lang="en-US" altLang="ko-KR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ETF: </a:t>
            </a:r>
          </a:p>
          <a:p>
            <a:pPr lvl="0" algn="l">
              <a:lnSpc>
                <a:spcPct val="150000"/>
              </a:lnSpc>
            </a:pPr>
            <a:r>
              <a:rPr lang="ko-KR" altLang="en-US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거래가 활발하게 이루어지며 쉬운 자산 현금화</a:t>
            </a:r>
            <a:endParaRPr lang="en-US" altLang="ko-KR" sz="3000" i="0" u="none" strike="noStrike" dirty="0">
              <a:solidFill>
                <a:schemeClr val="tx2">
                  <a:lumMod val="75000"/>
                </a:schemeClr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lvl="0" algn="l">
              <a:lnSpc>
                <a:spcPct val="150000"/>
              </a:lnSpc>
            </a:pPr>
            <a:r>
              <a:rPr lang="ko-KR" altLang="en-US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누적 거래량이 낮은 </a:t>
            </a:r>
            <a:r>
              <a:rPr lang="en-US" altLang="ko-KR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ETF: </a:t>
            </a:r>
          </a:p>
          <a:p>
            <a:pPr lvl="0" algn="l">
              <a:lnSpc>
                <a:spcPct val="150000"/>
              </a:lnSpc>
            </a:pPr>
            <a:r>
              <a:rPr lang="ko-KR" altLang="en-US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유동성이 낮아 시장 가격과 실제 가치 간 괴리가 발생할 가능성 존재</a:t>
            </a:r>
            <a:r>
              <a:rPr lang="en-US" altLang="ko-KR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 </a:t>
            </a:r>
          </a:p>
          <a:p>
            <a:pPr lvl="0" algn="l">
              <a:lnSpc>
                <a:spcPct val="150000"/>
              </a:lnSpc>
            </a:pPr>
            <a:endParaRPr lang="ko-KR" sz="3200" i="0" u="none" strike="noStrike" dirty="0">
              <a:solidFill>
                <a:srgbClr val="0077C1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296400" y="6578600"/>
            <a:ext cx="71628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endParaRPr lang="ko-KR" sz="2200" b="1" i="0" u="none" strike="noStrike" dirty="0">
              <a:solidFill>
                <a:srgbClr val="0165A3"/>
              </a:solidFill>
              <a:ea typeface="Hallym Gothic Medium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296400" y="8636000"/>
            <a:ext cx="7162800" cy="812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endParaRPr lang="ko-KR" sz="2200" b="1" i="0" u="none" strike="noStrike" dirty="0">
              <a:solidFill>
                <a:srgbClr val="004671"/>
              </a:solidFill>
              <a:ea typeface="Hallym Gothic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12B58D-F996-82B0-5FD7-8C645D198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D199FD7-A6C0-6A37-BAE2-59630D2C0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700" y="546100"/>
            <a:ext cx="723900" cy="635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EF6E9C23-26E2-E775-0E3F-E4DC49A74E2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2755900" y="1981200"/>
            <a:ext cx="13512800" cy="9906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51E46DC1-991C-8985-A5BE-C25B2EDF95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400" y="3632200"/>
            <a:ext cx="254000" cy="2540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D0A7396D-3593-1C87-0E20-B6C115555C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6400" y="3644900"/>
            <a:ext cx="254000" cy="254000"/>
          </a:xfrm>
          <a:prstGeom prst="rect">
            <a:avLst/>
          </a:prstGeom>
        </p:spPr>
      </p:pic>
      <p:sp>
        <p:nvSpPr>
          <p:cNvPr id="14" name="TextBox 14">
            <a:extLst>
              <a:ext uri="{FF2B5EF4-FFF2-40B4-BE49-F238E27FC236}">
                <a16:creationId xmlns:a16="http://schemas.microsoft.com/office/drawing/2014/main" id="{56DD149A-412D-49CF-2D91-94B89696FACD}"/>
              </a:ext>
            </a:extLst>
          </p:cNvPr>
          <p:cNvSpPr txBox="1"/>
          <p:nvPr/>
        </p:nvSpPr>
        <p:spPr>
          <a:xfrm>
            <a:off x="4864100" y="1003300"/>
            <a:ext cx="85471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4400" b="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2. </a:t>
            </a:r>
            <a:r>
              <a:rPr lang="ko-KR" altLang="en-US" sz="4400" b="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경제적 평가 지표</a:t>
            </a:r>
            <a:endParaRPr lang="ko-KR" sz="4400" b="0" i="0" u="none" strike="noStrike" dirty="0">
              <a:solidFill>
                <a:schemeClr val="tx2">
                  <a:lumMod val="7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C1B0AD92-8751-EE43-4169-D0897A6A667E}"/>
              </a:ext>
            </a:extLst>
          </p:cNvPr>
          <p:cNvSpPr txBox="1"/>
          <p:nvPr/>
        </p:nvSpPr>
        <p:spPr>
          <a:xfrm>
            <a:off x="1574800" y="2146300"/>
            <a:ext cx="15138400" cy="68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800" b="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ETF </a:t>
            </a:r>
            <a:r>
              <a:rPr lang="ko-KR" altLang="en-US" sz="2800" b="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추천에서 경제적 평가 지표의 목적과 중요성</a:t>
            </a:r>
            <a:endParaRPr lang="ko-KR" sz="2800" b="0" i="0" u="none" strike="noStrike" dirty="0">
              <a:solidFill>
                <a:schemeClr val="tx2">
                  <a:lumMod val="7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8D1B7621-5EAC-34C4-9E6D-22B8E06C2CB4}"/>
              </a:ext>
            </a:extLst>
          </p:cNvPr>
          <p:cNvSpPr txBox="1"/>
          <p:nvPr/>
        </p:nvSpPr>
        <p:spPr>
          <a:xfrm>
            <a:off x="981075" y="6070601"/>
            <a:ext cx="5549900" cy="260984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0509"/>
              </a:lnSpc>
            </a:pPr>
            <a:r>
              <a:rPr lang="ko-KR" altLang="en-US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수익성 지표</a:t>
            </a:r>
            <a:endParaRPr lang="en-US" altLang="ko-KR" sz="3200" b="0" i="0" u="none" strike="noStrike" dirty="0">
              <a:solidFill>
                <a:srgbClr val="FFFFFF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lvl="0" algn="ctr">
              <a:lnSpc>
                <a:spcPct val="80509"/>
              </a:lnSpc>
            </a:pPr>
            <a:r>
              <a:rPr lang="en-US" altLang="ko-KR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-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누적 수익률 </a:t>
            </a:r>
            <a:r>
              <a:rPr lang="en-US" altLang="ko-KR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Z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점수</a:t>
            </a:r>
            <a:endParaRPr lang="en-US" altLang="ko-KR" sz="3200" b="0" i="0" u="none" strike="noStrike" dirty="0">
              <a:solidFill>
                <a:srgbClr val="FFFFFF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lvl="0" algn="ctr">
              <a:lnSpc>
                <a:spcPct val="80509"/>
              </a:lnSpc>
            </a:pPr>
            <a:r>
              <a:rPr lang="en-US" altLang="ko-KR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-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정보비율 </a:t>
            </a:r>
            <a:r>
              <a:rPr lang="en-US" altLang="ko-KR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Z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점수</a:t>
            </a:r>
            <a:endParaRPr lang="en-US" altLang="ko-KR" sz="3200" b="0" i="0" u="none" strike="noStrike" dirty="0">
              <a:solidFill>
                <a:srgbClr val="FFFFFF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lvl="0" algn="ctr">
              <a:lnSpc>
                <a:spcPct val="80509"/>
              </a:lnSpc>
            </a:pPr>
            <a:endParaRPr lang="en-US" sz="3600" b="0" i="0" u="none" strike="noStrike" dirty="0">
              <a:solidFill>
                <a:srgbClr val="FFFFFF"/>
              </a:solidFill>
              <a:latin typeface="Hallym Gothic Bold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A403BBD2-C505-868C-A5B2-2633119EC152}"/>
              </a:ext>
            </a:extLst>
          </p:cNvPr>
          <p:cNvSpPr txBox="1"/>
          <p:nvPr/>
        </p:nvSpPr>
        <p:spPr>
          <a:xfrm>
            <a:off x="9753600" y="3293269"/>
            <a:ext cx="8026398" cy="151765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600" b="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수익성</a:t>
            </a:r>
            <a:r>
              <a:rPr lang="ko-KR" altLang="en-US" sz="3600" b="0" i="0" u="none" strike="noStrike" dirty="0">
                <a:solidFill>
                  <a:srgbClr val="0165A3"/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en-US" sz="3600" b="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지표</a:t>
            </a:r>
            <a:r>
              <a:rPr lang="en-US" altLang="ko-KR" sz="3600" b="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(</a:t>
            </a:r>
            <a:r>
              <a:rPr lang="ko-KR" altLang="en-US" sz="3600" b="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누적 수익률 </a:t>
            </a:r>
            <a:r>
              <a:rPr lang="en-US" altLang="ko-KR" sz="3600" b="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Z</a:t>
            </a:r>
            <a:r>
              <a:rPr lang="ko-KR" altLang="en-US" sz="3600" b="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점수</a:t>
            </a:r>
            <a:r>
              <a:rPr lang="en-US" altLang="ko-KR" sz="3600" b="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, </a:t>
            </a:r>
            <a:r>
              <a:rPr lang="ko-KR" altLang="en-US" sz="3600" b="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정보비율 </a:t>
            </a:r>
            <a:r>
              <a:rPr lang="en-US" altLang="ko-KR" sz="3600" b="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Z</a:t>
            </a:r>
            <a:r>
              <a:rPr lang="ko-KR" altLang="en-US" sz="3600" b="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점수</a:t>
            </a:r>
            <a:r>
              <a:rPr lang="en-US" altLang="ko-KR" sz="3600" b="0" i="0" u="none" strike="noStrike" dirty="0">
                <a:solidFill>
                  <a:srgbClr val="0165A3"/>
                </a:solidFill>
                <a:latin typeface="프리젠테이션 6 SemiBold" pitchFamily="2" charset="-127"/>
                <a:ea typeface="프리젠테이션 6 SemiBold" pitchFamily="2" charset="-127"/>
              </a:rPr>
              <a:t>)</a:t>
            </a:r>
          </a:p>
          <a:p>
            <a:pPr lvl="0" algn="l">
              <a:lnSpc>
                <a:spcPct val="99600"/>
              </a:lnSpc>
            </a:pPr>
            <a:endParaRPr lang="ko-KR" sz="3600" b="0" i="0" u="none" strike="noStrike" dirty="0">
              <a:solidFill>
                <a:srgbClr val="0165A3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FF0385F6-05A8-7A42-03A3-DF455E18202F}"/>
              </a:ext>
            </a:extLst>
          </p:cNvPr>
          <p:cNvSpPr txBox="1"/>
          <p:nvPr/>
        </p:nvSpPr>
        <p:spPr>
          <a:xfrm>
            <a:off x="9296400" y="4167187"/>
            <a:ext cx="9350375" cy="609282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0000"/>
              </a:lnSpc>
            </a:pPr>
            <a:r>
              <a:rPr lang="en-US" altLang="ko-KR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-</a:t>
            </a:r>
            <a:r>
              <a:rPr lang="ko-KR" altLang="en-US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누적 수익률 </a:t>
            </a:r>
            <a:r>
              <a:rPr lang="en-US" altLang="ko-KR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Z</a:t>
            </a:r>
            <a:r>
              <a:rPr lang="ko-KR" altLang="en-US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점수 </a:t>
            </a:r>
            <a:r>
              <a:rPr lang="en-US" altLang="ko-KR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(ETF</a:t>
            </a:r>
            <a:r>
              <a:rPr lang="ko-KR" altLang="en-US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의 장기 성과 비교</a:t>
            </a:r>
            <a:r>
              <a:rPr lang="en-US" altLang="ko-KR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)</a:t>
            </a:r>
            <a:endParaRPr lang="en-US" altLang="ko-KR" sz="3000" dirty="0">
              <a:solidFill>
                <a:schemeClr val="tx2">
                  <a:lumMod val="75000"/>
                </a:schemeClr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lvl="0" algn="l">
              <a:lnSpc>
                <a:spcPct val="150000"/>
              </a:lnSpc>
            </a:pPr>
            <a:r>
              <a:rPr lang="en-US" altLang="ko-KR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ETF</a:t>
            </a:r>
            <a:r>
              <a:rPr lang="ko-KR" altLang="en-US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의 수익률이 시장 내 다른 </a:t>
            </a:r>
            <a:r>
              <a:rPr lang="en-US" altLang="ko-KR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ETF</a:t>
            </a:r>
            <a:r>
              <a:rPr lang="ko-KR" altLang="en-US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와 비교해 얼마나 우수한지</a:t>
            </a:r>
            <a:endParaRPr lang="en-US" altLang="ko-KR" sz="3000" i="0" u="none" strike="noStrike" dirty="0">
              <a:solidFill>
                <a:schemeClr val="tx2">
                  <a:lumMod val="75000"/>
                </a:schemeClr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lvl="0" algn="l">
              <a:lnSpc>
                <a:spcPct val="150000"/>
              </a:lnSpc>
            </a:pPr>
            <a:r>
              <a:rPr lang="en-US" altLang="ko-KR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ko-KR" altLang="en-US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또는 열등한지</a:t>
            </a:r>
            <a:r>
              <a:rPr lang="en-US" altLang="ko-KR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)</a:t>
            </a:r>
            <a:r>
              <a:rPr lang="ko-KR" altLang="en-US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를 나타냄</a:t>
            </a:r>
            <a:endParaRPr lang="en-US" altLang="ko-KR" sz="3000" i="0" u="none" strike="noStrike" dirty="0">
              <a:solidFill>
                <a:schemeClr val="tx2">
                  <a:lumMod val="75000"/>
                </a:schemeClr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lvl="0" algn="l">
              <a:lnSpc>
                <a:spcPct val="150000"/>
              </a:lnSpc>
            </a:pPr>
            <a:r>
              <a:rPr lang="en-US" altLang="ko-KR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-</a:t>
            </a:r>
            <a:r>
              <a:rPr lang="ko-KR" altLang="en-US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정보비율 </a:t>
            </a:r>
            <a:r>
              <a:rPr lang="en-US" altLang="ko-KR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Z</a:t>
            </a:r>
            <a:r>
              <a:rPr lang="ko-KR" altLang="en-US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점수</a:t>
            </a:r>
            <a:r>
              <a:rPr lang="en-US" altLang="ko-KR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ko-KR" altLang="en-US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성과와 리스크의 균형 평가</a:t>
            </a:r>
            <a:r>
              <a:rPr lang="en-US" altLang="ko-KR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)</a:t>
            </a:r>
          </a:p>
          <a:p>
            <a:pPr lvl="0" algn="l">
              <a:lnSpc>
                <a:spcPct val="150000"/>
              </a:lnSpc>
            </a:pPr>
            <a:r>
              <a:rPr lang="ko-KR" altLang="en-US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초과 수익</a:t>
            </a:r>
            <a:r>
              <a:rPr lang="en-US" altLang="ko-KR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ko-KR" altLang="en-US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알파</a:t>
            </a:r>
            <a:r>
              <a:rPr lang="en-US" altLang="ko-KR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)</a:t>
            </a:r>
            <a:r>
              <a:rPr lang="ko-KR" altLang="en-US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을 리스크</a:t>
            </a:r>
            <a:r>
              <a:rPr lang="en-US" altLang="ko-KR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ko-KR" altLang="en-US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추적 오차</a:t>
            </a:r>
            <a:r>
              <a:rPr lang="en-US" altLang="ko-KR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)</a:t>
            </a:r>
            <a:r>
              <a:rPr lang="ko-KR" altLang="en-US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와 비교한 수익 효율성을 평가</a:t>
            </a:r>
            <a:endParaRPr lang="en-US" altLang="ko-KR" sz="3000" i="0" u="none" strike="noStrike" dirty="0">
              <a:solidFill>
                <a:schemeClr val="tx2">
                  <a:lumMod val="75000"/>
                </a:schemeClr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lvl="0" algn="l">
              <a:lnSpc>
                <a:spcPct val="150000"/>
              </a:lnSpc>
            </a:pPr>
            <a:r>
              <a:rPr lang="ko-KR" altLang="en-US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단순한 수익률만이 아니라 동일한 수준의 위험에서 </a:t>
            </a:r>
            <a:endParaRPr lang="en-US" altLang="ko-KR" sz="3000" i="0" u="none" strike="noStrike" dirty="0">
              <a:solidFill>
                <a:schemeClr val="tx2">
                  <a:lumMod val="75000"/>
                </a:schemeClr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lvl="0" algn="l">
              <a:lnSpc>
                <a:spcPct val="150000"/>
              </a:lnSpc>
            </a:pPr>
            <a:r>
              <a:rPr lang="ko-KR" altLang="en-US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더 나은 수익을 낸 </a:t>
            </a:r>
            <a:r>
              <a:rPr lang="en-US" altLang="ko-KR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ETF</a:t>
            </a:r>
            <a:r>
              <a:rPr lang="ko-KR" altLang="en-US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를 식별하는 데에 도움을 </a:t>
            </a:r>
            <a:r>
              <a:rPr lang="ko-KR" altLang="en-US" sz="3000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줌</a:t>
            </a:r>
            <a:endParaRPr lang="en-US" altLang="ko-KR" sz="3000" i="0" u="none" strike="noStrike" dirty="0">
              <a:solidFill>
                <a:schemeClr val="tx2">
                  <a:lumMod val="75000"/>
                </a:schemeClr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lvl="0" algn="l">
              <a:lnSpc>
                <a:spcPct val="124499"/>
              </a:lnSpc>
            </a:pPr>
            <a:endParaRPr lang="en-US" altLang="ko-KR" sz="2200" b="1" i="0" u="none" strike="noStrike" dirty="0">
              <a:solidFill>
                <a:srgbClr val="0165A3"/>
              </a:solidFill>
              <a:ea typeface="Hallym Gothic Medium"/>
            </a:endParaRPr>
          </a:p>
          <a:p>
            <a:pPr lvl="0" algn="l">
              <a:lnSpc>
                <a:spcPct val="124499"/>
              </a:lnSpc>
            </a:pPr>
            <a:endParaRPr lang="en-US" altLang="ko-KR" sz="2200" b="1" i="0" u="none" strike="noStrike" dirty="0">
              <a:solidFill>
                <a:srgbClr val="0165A3"/>
              </a:solidFill>
              <a:ea typeface="Hallym Gothic Medium"/>
            </a:endParaRPr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63592390-A7E6-570E-FC08-F54D5BCA91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9600" y="3441700"/>
            <a:ext cx="3746500" cy="3746500"/>
          </a:xfrm>
          <a:prstGeom prst="rect">
            <a:avLst/>
          </a:prstGeom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1235A0F5-4616-437D-C814-431F174727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8200" y="5524500"/>
            <a:ext cx="3657600" cy="3657600"/>
          </a:xfrm>
          <a:prstGeom prst="rect">
            <a:avLst/>
          </a:prstGeom>
        </p:spPr>
      </p:pic>
      <p:pic>
        <p:nvPicPr>
          <p:cNvPr id="9" name="Picture 7">
            <a:extLst>
              <a:ext uri="{FF2B5EF4-FFF2-40B4-BE49-F238E27FC236}">
                <a16:creationId xmlns:a16="http://schemas.microsoft.com/office/drawing/2014/main" id="{A2D58466-E03C-B6CC-C3F0-E8F5D467229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97025" y="5524500"/>
            <a:ext cx="3657600" cy="3657600"/>
          </a:xfrm>
          <a:prstGeom prst="rect">
            <a:avLst/>
          </a:prstGeom>
        </p:spPr>
      </p:pic>
      <p:sp>
        <p:nvSpPr>
          <p:cNvPr id="10" name="TextBox 17">
            <a:extLst>
              <a:ext uri="{FF2B5EF4-FFF2-40B4-BE49-F238E27FC236}">
                <a16:creationId xmlns:a16="http://schemas.microsoft.com/office/drawing/2014/main" id="{2B2EAC66-FDE8-4973-3B5E-EDFA4461A682}"/>
              </a:ext>
            </a:extLst>
          </p:cNvPr>
          <p:cNvSpPr txBox="1"/>
          <p:nvPr/>
        </p:nvSpPr>
        <p:spPr>
          <a:xfrm>
            <a:off x="3632200" y="4381500"/>
            <a:ext cx="2692400" cy="1054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79679"/>
              </a:lnSpc>
            </a:pPr>
            <a:r>
              <a:rPr lang="ko-KR" altLang="en-US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유동성 지표</a:t>
            </a:r>
            <a:endParaRPr lang="en-US" altLang="ko-KR" sz="3200" b="0" i="0" u="none" strike="noStrike" dirty="0">
              <a:solidFill>
                <a:srgbClr val="FFFFFF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lvl="0" algn="ctr">
              <a:lnSpc>
                <a:spcPct val="79679"/>
              </a:lnSpc>
            </a:pPr>
            <a:r>
              <a:rPr lang="en-US" altLang="ko-KR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-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누적 거래량</a:t>
            </a:r>
            <a:endParaRPr lang="en-US" altLang="ko-KR" sz="3200" b="0" i="0" u="none" strike="noStrike" dirty="0">
              <a:solidFill>
                <a:srgbClr val="FFFFFF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lvl="0" algn="ctr">
              <a:lnSpc>
                <a:spcPct val="79679"/>
              </a:lnSpc>
            </a:pPr>
            <a:r>
              <a:rPr lang="en-US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- 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거래대금</a:t>
            </a:r>
            <a:endParaRPr lang="en-US" sz="3200" b="0" i="0" u="none" strike="noStrike" dirty="0">
              <a:solidFill>
                <a:srgbClr val="FFFFFF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13" name="TextBox 18">
            <a:extLst>
              <a:ext uri="{FF2B5EF4-FFF2-40B4-BE49-F238E27FC236}">
                <a16:creationId xmlns:a16="http://schemas.microsoft.com/office/drawing/2014/main" id="{CCD855E2-D339-6675-94B9-6714D5CB835F}"/>
              </a:ext>
            </a:extLst>
          </p:cNvPr>
          <p:cNvSpPr txBox="1"/>
          <p:nvPr/>
        </p:nvSpPr>
        <p:spPr>
          <a:xfrm>
            <a:off x="685800" y="6210301"/>
            <a:ext cx="5549900" cy="260984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0509"/>
              </a:lnSpc>
            </a:pPr>
            <a:r>
              <a:rPr lang="ko-KR" altLang="en-US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수익성 지표</a:t>
            </a:r>
            <a:endParaRPr lang="en-US" altLang="ko-KR" sz="3200" b="0" i="0" u="none" strike="noStrike" dirty="0">
              <a:solidFill>
                <a:srgbClr val="FFFFFF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lvl="0" algn="ctr">
              <a:lnSpc>
                <a:spcPct val="80509"/>
              </a:lnSpc>
            </a:pPr>
            <a:r>
              <a:rPr lang="en-US" altLang="ko-KR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-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누적 수익률 </a:t>
            </a:r>
            <a:r>
              <a:rPr lang="en-US" altLang="ko-KR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Z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점수</a:t>
            </a:r>
            <a:endParaRPr lang="en-US" altLang="ko-KR" sz="3200" b="0" i="0" u="none" strike="noStrike" dirty="0">
              <a:solidFill>
                <a:srgbClr val="FFFFFF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lvl="0" algn="ctr">
              <a:lnSpc>
                <a:spcPct val="80509"/>
              </a:lnSpc>
            </a:pPr>
            <a:r>
              <a:rPr lang="en-US" altLang="ko-KR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-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정보비율 </a:t>
            </a:r>
            <a:r>
              <a:rPr lang="en-US" altLang="ko-KR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Z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점수</a:t>
            </a:r>
            <a:endParaRPr lang="en-US" altLang="ko-KR" sz="3200" b="0" i="0" u="none" strike="noStrike" dirty="0">
              <a:solidFill>
                <a:srgbClr val="FFFFFF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lvl="0" algn="ctr">
              <a:lnSpc>
                <a:spcPct val="80509"/>
              </a:lnSpc>
            </a:pPr>
            <a:endParaRPr lang="en-US" sz="3600" b="0" i="0" u="none" strike="noStrike" dirty="0">
              <a:solidFill>
                <a:srgbClr val="FFFFFF"/>
              </a:solidFill>
              <a:latin typeface="Hallym Gothic Bold"/>
            </a:endParaRPr>
          </a:p>
        </p:txBody>
      </p:sp>
      <p:sp>
        <p:nvSpPr>
          <p:cNvPr id="15" name="TextBox 19">
            <a:extLst>
              <a:ext uri="{FF2B5EF4-FFF2-40B4-BE49-F238E27FC236}">
                <a16:creationId xmlns:a16="http://schemas.microsoft.com/office/drawing/2014/main" id="{DC8A4AD3-95DC-9603-D45C-AA8AC419F002}"/>
              </a:ext>
            </a:extLst>
          </p:cNvPr>
          <p:cNvSpPr txBox="1"/>
          <p:nvPr/>
        </p:nvSpPr>
        <p:spPr>
          <a:xfrm>
            <a:off x="5203824" y="6505575"/>
            <a:ext cx="2635251" cy="162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안정성 지표</a:t>
            </a:r>
            <a:endParaRPr lang="en-US" altLang="ko-KR" sz="3200" b="0" i="0" u="none" strike="noStrike" dirty="0">
              <a:solidFill>
                <a:srgbClr val="FFFFFF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lvl="0" algn="ctr">
              <a:lnSpc>
                <a:spcPct val="99600"/>
              </a:lnSpc>
            </a:pPr>
            <a:r>
              <a:rPr lang="en-US" altLang="ko-KR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-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최대 낙폭 </a:t>
            </a:r>
            <a:r>
              <a:rPr lang="en-US" altLang="ko-KR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Z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점수</a:t>
            </a:r>
            <a:endParaRPr lang="en-US" sz="3200" b="0" i="0" u="none" strike="noStrike" dirty="0">
              <a:solidFill>
                <a:srgbClr val="FFFFFF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32707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9BA3DC-9843-12B3-4BFD-3BDB78D5C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DCB2CEE-F1BF-F537-C6DD-AEC6CF6C8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700" y="546100"/>
            <a:ext cx="723900" cy="635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85EAA79A-9DBB-3C87-AA6C-46967DBD239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2755900" y="1981200"/>
            <a:ext cx="13512800" cy="9906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C896D3C4-58E6-CB88-4723-044E7A9A39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400" y="3632200"/>
            <a:ext cx="254000" cy="254000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84BB87B7-F5C9-C29E-D4DA-7830A1E570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6400" y="3657600"/>
            <a:ext cx="254000" cy="254000"/>
          </a:xfrm>
          <a:prstGeom prst="rect">
            <a:avLst/>
          </a:prstGeom>
        </p:spPr>
      </p:pic>
      <p:sp>
        <p:nvSpPr>
          <p:cNvPr id="14" name="TextBox 14">
            <a:extLst>
              <a:ext uri="{FF2B5EF4-FFF2-40B4-BE49-F238E27FC236}">
                <a16:creationId xmlns:a16="http://schemas.microsoft.com/office/drawing/2014/main" id="{640C4953-59B4-3D88-DA03-D02C7D5B803D}"/>
              </a:ext>
            </a:extLst>
          </p:cNvPr>
          <p:cNvSpPr txBox="1"/>
          <p:nvPr/>
        </p:nvSpPr>
        <p:spPr>
          <a:xfrm>
            <a:off x="4864100" y="1003300"/>
            <a:ext cx="85471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4400" b="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2. </a:t>
            </a:r>
            <a:r>
              <a:rPr lang="ko-KR" altLang="en-US" sz="4400" b="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경제적 평가 지표</a:t>
            </a:r>
            <a:endParaRPr lang="ko-KR" sz="4400" b="0" i="0" u="none" strike="noStrike" dirty="0">
              <a:solidFill>
                <a:schemeClr val="tx2">
                  <a:lumMod val="7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A3FB9705-7965-3F6A-28CA-F9CC91EEB4A6}"/>
              </a:ext>
            </a:extLst>
          </p:cNvPr>
          <p:cNvSpPr txBox="1"/>
          <p:nvPr/>
        </p:nvSpPr>
        <p:spPr>
          <a:xfrm>
            <a:off x="1574800" y="2146300"/>
            <a:ext cx="15138400" cy="68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800" b="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ETF </a:t>
            </a:r>
            <a:r>
              <a:rPr lang="ko-KR" altLang="en-US" sz="2800" b="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추천에서 경제적 평가 지표의 목적과 중요성</a:t>
            </a:r>
            <a:endParaRPr lang="ko-KR" sz="2800" b="0" i="0" u="none" strike="noStrike" dirty="0">
              <a:solidFill>
                <a:schemeClr val="tx2">
                  <a:lumMod val="7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2836147-E6BC-0111-BBF5-CD8E0370A209}"/>
              </a:ext>
            </a:extLst>
          </p:cNvPr>
          <p:cNvSpPr txBox="1"/>
          <p:nvPr/>
        </p:nvSpPr>
        <p:spPr>
          <a:xfrm>
            <a:off x="981075" y="6070601"/>
            <a:ext cx="5549900" cy="260984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0509"/>
              </a:lnSpc>
            </a:pPr>
            <a:r>
              <a:rPr lang="ko-KR" altLang="en-US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수익성 지표</a:t>
            </a:r>
            <a:endParaRPr lang="en-US" altLang="ko-KR" sz="3200" b="0" i="0" u="none" strike="noStrike" dirty="0">
              <a:solidFill>
                <a:srgbClr val="FFFFFF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lvl="0" algn="ctr">
              <a:lnSpc>
                <a:spcPct val="80509"/>
              </a:lnSpc>
            </a:pPr>
            <a:r>
              <a:rPr lang="en-US" altLang="ko-KR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-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누적 수익률 </a:t>
            </a:r>
            <a:r>
              <a:rPr lang="en-US" altLang="ko-KR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Z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점수</a:t>
            </a:r>
            <a:endParaRPr lang="en-US" altLang="ko-KR" sz="3200" b="0" i="0" u="none" strike="noStrike" dirty="0">
              <a:solidFill>
                <a:srgbClr val="FFFFFF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lvl="0" algn="ctr">
              <a:lnSpc>
                <a:spcPct val="80509"/>
              </a:lnSpc>
            </a:pPr>
            <a:r>
              <a:rPr lang="en-US" altLang="ko-KR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-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정보비율 </a:t>
            </a:r>
            <a:r>
              <a:rPr lang="en-US" altLang="ko-KR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Z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점수</a:t>
            </a:r>
            <a:endParaRPr lang="en-US" altLang="ko-KR" sz="3200" b="0" i="0" u="none" strike="noStrike" dirty="0">
              <a:solidFill>
                <a:srgbClr val="FFFFFF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lvl="0" algn="ctr">
              <a:lnSpc>
                <a:spcPct val="80509"/>
              </a:lnSpc>
            </a:pPr>
            <a:endParaRPr lang="en-US" sz="3600" b="0" i="0" u="none" strike="noStrike" dirty="0">
              <a:solidFill>
                <a:srgbClr val="FFFFFF"/>
              </a:solidFill>
              <a:latin typeface="Hallym Gothic Bold"/>
            </a:endParaRP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2B0F7C51-7803-EFE1-D6D9-54EB3AB2B1BB}"/>
              </a:ext>
            </a:extLst>
          </p:cNvPr>
          <p:cNvSpPr txBox="1"/>
          <p:nvPr/>
        </p:nvSpPr>
        <p:spPr>
          <a:xfrm>
            <a:off x="9423400" y="4019550"/>
            <a:ext cx="7778750" cy="4838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0000"/>
              </a:lnSpc>
            </a:pPr>
            <a:r>
              <a:rPr lang="en-US" altLang="ko-KR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-</a:t>
            </a:r>
            <a:r>
              <a:rPr lang="ko-KR" altLang="en-US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최대 낙폭 </a:t>
            </a:r>
            <a:r>
              <a:rPr lang="en-US" altLang="ko-KR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Z</a:t>
            </a:r>
            <a:r>
              <a:rPr lang="ko-KR" altLang="en-US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점수</a:t>
            </a:r>
            <a:r>
              <a:rPr lang="en-US" altLang="ko-KR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ko-KR" altLang="en-US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투자 리스크 측정의 핵심 지표</a:t>
            </a:r>
            <a:r>
              <a:rPr lang="en-US" altLang="ko-KR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)</a:t>
            </a:r>
          </a:p>
          <a:p>
            <a:pPr lvl="0" algn="l">
              <a:lnSpc>
                <a:spcPct val="150000"/>
              </a:lnSpc>
            </a:pPr>
            <a:r>
              <a:rPr lang="ko-KR" altLang="en-US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투자 기간 동안 가장 큰 손실을 측정하는 지표로</a:t>
            </a:r>
            <a:r>
              <a:rPr lang="en-US" altLang="ko-KR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, </a:t>
            </a:r>
          </a:p>
          <a:p>
            <a:pPr lvl="0" algn="l">
              <a:lnSpc>
                <a:spcPct val="150000"/>
              </a:lnSpc>
            </a:pPr>
            <a:r>
              <a:rPr lang="ko-KR" altLang="en-US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시장 변동성이 클 때 </a:t>
            </a:r>
            <a:r>
              <a:rPr lang="en-US" altLang="ko-KR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ETF</a:t>
            </a:r>
            <a:r>
              <a:rPr lang="ko-KR" altLang="en-US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의 안정성을 평가하는 데 사용</a:t>
            </a:r>
            <a:endParaRPr lang="en-US" altLang="ko-KR" sz="3000" i="0" u="none" strike="noStrike" dirty="0">
              <a:solidFill>
                <a:schemeClr val="tx2">
                  <a:lumMod val="75000"/>
                </a:schemeClr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lvl="0" algn="l">
              <a:lnSpc>
                <a:spcPct val="150000"/>
              </a:lnSpc>
            </a:pPr>
            <a:r>
              <a:rPr lang="ko-KR" altLang="en-US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변동성이 큰 시장 환경에서는 낙폭 지표가 투자자 심리에 </a:t>
            </a:r>
            <a:endParaRPr lang="en-US" altLang="ko-KR" sz="3000" i="0" u="none" strike="noStrike" dirty="0">
              <a:solidFill>
                <a:schemeClr val="tx2">
                  <a:lumMod val="75000"/>
                </a:schemeClr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lvl="0" algn="l">
              <a:lnSpc>
                <a:spcPct val="150000"/>
              </a:lnSpc>
            </a:pPr>
            <a:r>
              <a:rPr lang="ko-KR" altLang="en-US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미치는 영향이 크며</a:t>
            </a:r>
            <a:r>
              <a:rPr lang="en-US" altLang="ko-KR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300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포트폴리오의 위험 관리를 강화하는 데 중요한 역할</a:t>
            </a:r>
            <a:endParaRPr lang="en-US" altLang="ko-KR" sz="3000" i="0" u="none" strike="noStrike" dirty="0">
              <a:solidFill>
                <a:schemeClr val="tx2">
                  <a:lumMod val="75000"/>
                </a:schemeClr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D515F3B8-E812-9015-B70B-35D62B4C1CA2}"/>
              </a:ext>
            </a:extLst>
          </p:cNvPr>
          <p:cNvSpPr txBox="1"/>
          <p:nvPr/>
        </p:nvSpPr>
        <p:spPr>
          <a:xfrm>
            <a:off x="9829800" y="3136900"/>
            <a:ext cx="7162800" cy="1257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600" b="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안정성 지표</a:t>
            </a:r>
            <a:r>
              <a:rPr lang="en-US" altLang="ko-KR" sz="3600" b="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(</a:t>
            </a:r>
            <a:r>
              <a:rPr lang="ko-KR" altLang="en-US" sz="3600" b="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최대 낙폭 </a:t>
            </a:r>
            <a:r>
              <a:rPr lang="en-US" altLang="ko-KR" sz="3600" b="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Z</a:t>
            </a:r>
            <a:r>
              <a:rPr lang="ko-KR" altLang="en-US" sz="3600" b="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점수</a:t>
            </a:r>
            <a:r>
              <a:rPr lang="en-US" altLang="ko-KR" sz="3600" b="0" i="0" u="none" strike="noStrike" dirty="0">
                <a:solidFill>
                  <a:schemeClr val="tx2">
                    <a:lumMod val="7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)</a:t>
            </a:r>
            <a:endParaRPr lang="ko-KR" sz="3600" b="0" i="0" u="none" strike="noStrike" dirty="0">
              <a:solidFill>
                <a:schemeClr val="tx2">
                  <a:lumMod val="7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579A088C-9D29-57AF-C990-355AB30433D7}"/>
              </a:ext>
            </a:extLst>
          </p:cNvPr>
          <p:cNvSpPr txBox="1"/>
          <p:nvPr/>
        </p:nvSpPr>
        <p:spPr>
          <a:xfrm>
            <a:off x="9296400" y="8636000"/>
            <a:ext cx="7162800" cy="812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endParaRPr lang="ko-KR" sz="2200" b="1" i="0" u="none" strike="noStrike" dirty="0">
              <a:solidFill>
                <a:srgbClr val="004671"/>
              </a:solidFill>
              <a:ea typeface="Hallym Gothic Medium"/>
            </a:endParaRPr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F0AE8F5F-D205-1907-BB33-30348BFE59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9600" y="3441700"/>
            <a:ext cx="3746500" cy="3746500"/>
          </a:xfrm>
          <a:prstGeom prst="rect">
            <a:avLst/>
          </a:prstGeom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4726F20C-FB88-BF8F-DF7A-B6130E9D29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8200" y="5524500"/>
            <a:ext cx="3657600" cy="3657600"/>
          </a:xfrm>
          <a:prstGeom prst="rect">
            <a:avLst/>
          </a:prstGeom>
        </p:spPr>
      </p:pic>
      <p:pic>
        <p:nvPicPr>
          <p:cNvPr id="9" name="Picture 7">
            <a:extLst>
              <a:ext uri="{FF2B5EF4-FFF2-40B4-BE49-F238E27FC236}">
                <a16:creationId xmlns:a16="http://schemas.microsoft.com/office/drawing/2014/main" id="{305A4254-7104-1EB4-12FC-E82C3F2BD2C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97025" y="5524500"/>
            <a:ext cx="3657600" cy="3657600"/>
          </a:xfrm>
          <a:prstGeom prst="rect">
            <a:avLst/>
          </a:prstGeom>
        </p:spPr>
      </p:pic>
      <p:sp>
        <p:nvSpPr>
          <p:cNvPr id="10" name="TextBox 17">
            <a:extLst>
              <a:ext uri="{FF2B5EF4-FFF2-40B4-BE49-F238E27FC236}">
                <a16:creationId xmlns:a16="http://schemas.microsoft.com/office/drawing/2014/main" id="{27B2B0A5-7851-13A8-BD18-C25759017D74}"/>
              </a:ext>
            </a:extLst>
          </p:cNvPr>
          <p:cNvSpPr txBox="1"/>
          <p:nvPr/>
        </p:nvSpPr>
        <p:spPr>
          <a:xfrm>
            <a:off x="3632200" y="4381500"/>
            <a:ext cx="2692400" cy="1054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79679"/>
              </a:lnSpc>
            </a:pPr>
            <a:r>
              <a:rPr lang="ko-KR" altLang="en-US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유동성 지표</a:t>
            </a:r>
            <a:endParaRPr lang="en-US" altLang="ko-KR" sz="3200" b="0" i="0" u="none" strike="noStrike" dirty="0">
              <a:solidFill>
                <a:srgbClr val="FFFFFF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lvl="0" algn="ctr">
              <a:lnSpc>
                <a:spcPct val="79679"/>
              </a:lnSpc>
            </a:pPr>
            <a:r>
              <a:rPr lang="en-US" altLang="ko-KR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-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누적 거래량</a:t>
            </a:r>
            <a:endParaRPr lang="en-US" altLang="ko-KR" sz="3200" b="0" i="0" u="none" strike="noStrike" dirty="0">
              <a:solidFill>
                <a:srgbClr val="FFFFFF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lvl="0" algn="ctr">
              <a:lnSpc>
                <a:spcPct val="79679"/>
              </a:lnSpc>
            </a:pPr>
            <a:r>
              <a:rPr lang="en-US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- 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거래대금</a:t>
            </a:r>
            <a:endParaRPr lang="en-US" sz="3200" b="0" i="0" u="none" strike="noStrike" dirty="0">
              <a:solidFill>
                <a:srgbClr val="FFFFFF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12" name="TextBox 18">
            <a:extLst>
              <a:ext uri="{FF2B5EF4-FFF2-40B4-BE49-F238E27FC236}">
                <a16:creationId xmlns:a16="http://schemas.microsoft.com/office/drawing/2014/main" id="{725B7C2A-82AB-88F5-5F61-2925DA2998DA}"/>
              </a:ext>
            </a:extLst>
          </p:cNvPr>
          <p:cNvSpPr txBox="1"/>
          <p:nvPr/>
        </p:nvSpPr>
        <p:spPr>
          <a:xfrm>
            <a:off x="685800" y="6210301"/>
            <a:ext cx="5549900" cy="260984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0509"/>
              </a:lnSpc>
            </a:pPr>
            <a:r>
              <a:rPr lang="ko-KR" altLang="en-US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수익성 지표</a:t>
            </a:r>
            <a:endParaRPr lang="en-US" altLang="ko-KR" sz="3200" b="0" i="0" u="none" strike="noStrike" dirty="0">
              <a:solidFill>
                <a:srgbClr val="FFFFFF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lvl="0" algn="ctr">
              <a:lnSpc>
                <a:spcPct val="80509"/>
              </a:lnSpc>
            </a:pPr>
            <a:r>
              <a:rPr lang="en-US" altLang="ko-KR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-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누적 수익률 </a:t>
            </a:r>
            <a:r>
              <a:rPr lang="en-US" altLang="ko-KR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Z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점수</a:t>
            </a:r>
            <a:endParaRPr lang="en-US" altLang="ko-KR" sz="3200" b="0" i="0" u="none" strike="noStrike" dirty="0">
              <a:solidFill>
                <a:srgbClr val="FFFFFF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lvl="0" algn="ctr">
              <a:lnSpc>
                <a:spcPct val="80509"/>
              </a:lnSpc>
            </a:pPr>
            <a:r>
              <a:rPr lang="en-US" altLang="ko-KR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-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정보비율 </a:t>
            </a:r>
            <a:r>
              <a:rPr lang="en-US" altLang="ko-KR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Z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점수</a:t>
            </a:r>
            <a:endParaRPr lang="en-US" altLang="ko-KR" sz="3200" b="0" i="0" u="none" strike="noStrike" dirty="0">
              <a:solidFill>
                <a:srgbClr val="FFFFFF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lvl="0" algn="ctr">
              <a:lnSpc>
                <a:spcPct val="80509"/>
              </a:lnSpc>
            </a:pPr>
            <a:endParaRPr lang="en-US" sz="3600" b="0" i="0" u="none" strike="noStrike" dirty="0">
              <a:solidFill>
                <a:srgbClr val="FFFFFF"/>
              </a:solidFill>
              <a:latin typeface="Hallym Gothic Bold"/>
            </a:endParaRPr>
          </a:p>
        </p:txBody>
      </p:sp>
      <p:sp>
        <p:nvSpPr>
          <p:cNvPr id="15" name="TextBox 19">
            <a:extLst>
              <a:ext uri="{FF2B5EF4-FFF2-40B4-BE49-F238E27FC236}">
                <a16:creationId xmlns:a16="http://schemas.microsoft.com/office/drawing/2014/main" id="{615646B7-F52A-B554-1B61-594BB02F838B}"/>
              </a:ext>
            </a:extLst>
          </p:cNvPr>
          <p:cNvSpPr txBox="1"/>
          <p:nvPr/>
        </p:nvSpPr>
        <p:spPr>
          <a:xfrm>
            <a:off x="5203824" y="6505575"/>
            <a:ext cx="2635251" cy="162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안정성 지표</a:t>
            </a:r>
            <a:endParaRPr lang="en-US" altLang="ko-KR" sz="3200" b="0" i="0" u="none" strike="noStrike" dirty="0">
              <a:solidFill>
                <a:srgbClr val="FFFFFF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lvl="0" algn="ctr">
              <a:lnSpc>
                <a:spcPct val="99600"/>
              </a:lnSpc>
            </a:pPr>
            <a:r>
              <a:rPr lang="en-US" altLang="ko-KR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-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최대 낙폭 </a:t>
            </a:r>
            <a:r>
              <a:rPr lang="en-US" altLang="ko-KR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Z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</a:rPr>
              <a:t>점수</a:t>
            </a:r>
            <a:endParaRPr lang="en-US" sz="3200" b="0" i="0" u="none" strike="noStrike" dirty="0">
              <a:solidFill>
                <a:srgbClr val="FFFFFF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61247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0" y="0"/>
            <a:ext cx="4940300" cy="2654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7700" y="7632700"/>
            <a:ext cx="4940300" cy="26543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206500" y="965200"/>
            <a:ext cx="169291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99600"/>
              </a:lnSpc>
            </a:pPr>
            <a:endParaRPr lang="en-US" altLang="ko-KR" sz="6000" b="0" i="0" u="none" strike="noStrike" dirty="0">
              <a:solidFill>
                <a:schemeClr val="tx2">
                  <a:lumMod val="75000"/>
                </a:schemeClr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>
              <a:lnSpc>
                <a:spcPct val="99600"/>
              </a:lnSpc>
            </a:pPr>
            <a:r>
              <a:rPr lang="en-US" altLang="ko-KR" sz="6000" b="0" i="0" u="none" strike="noStrike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3. </a:t>
            </a:r>
            <a:r>
              <a:rPr lang="ko-KR" altLang="en-US" sz="6000" b="0" i="0" u="none" strike="noStrike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타 서비스와의 차별성 및 경제적 효용성</a:t>
            </a:r>
            <a:endParaRPr lang="en-US" altLang="ko-KR" sz="6000" b="0" i="0" u="none" strike="noStrike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lvl="0" algn="l">
              <a:lnSpc>
                <a:spcPct val="99600"/>
              </a:lnSpc>
            </a:pPr>
            <a:endParaRPr lang="ko-KR" sz="6000" b="0" i="0" u="none" strike="noStrike" dirty="0">
              <a:solidFill>
                <a:srgbClr val="FFFFFF"/>
              </a:solidFill>
              <a:ea typeface="Hallym Gothic Bold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4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8100" y="5765800"/>
            <a:ext cx="1358900" cy="5842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3330AE78-C8C1-BB0E-918A-3D75FA2DF373}"/>
              </a:ext>
            </a:extLst>
          </p:cNvPr>
          <p:cNvSpPr txBox="1"/>
          <p:nvPr/>
        </p:nvSpPr>
        <p:spPr>
          <a:xfrm>
            <a:off x="1117600" y="2102683"/>
            <a:ext cx="16052800" cy="8494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600" b="1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1. </a:t>
            </a:r>
            <a:r>
              <a:rPr lang="ko-KR" altLang="en-US" sz="3600" b="1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자동 </a:t>
            </a:r>
            <a:r>
              <a:rPr lang="en-US" altLang="ko-KR" sz="3600" b="1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&amp; </a:t>
            </a:r>
            <a:r>
              <a:rPr lang="ko-KR" altLang="en-US" sz="3600" b="1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맞춤형</a:t>
            </a:r>
            <a:endParaRPr lang="en-US" altLang="ko-KR" sz="3600" b="1" dirty="0">
              <a:solidFill>
                <a:schemeClr val="bg1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-</a:t>
            </a:r>
            <a:r>
              <a:rPr lang="ko-KR" altLang="en-US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고객의 특성</a:t>
            </a:r>
            <a:r>
              <a:rPr lang="en-US" altLang="ko-KR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ko-KR" altLang="en-US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나이 및 자산 등</a:t>
            </a:r>
            <a:r>
              <a:rPr lang="en-US" altLang="ko-KR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)</a:t>
            </a:r>
            <a:r>
              <a:rPr lang="ko-KR" altLang="en-US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과 니즈를 반영하여 사용자가 원하는 검색 기준을 입력</a:t>
            </a:r>
            <a:r>
              <a:rPr lang="en-US" altLang="ko-KR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en-US" altLang="ko-KR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AI</a:t>
            </a:r>
            <a:r>
              <a:rPr lang="ko-KR" altLang="en-US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가 자동으로 </a:t>
            </a:r>
            <a:r>
              <a:rPr lang="en-US" altLang="ko-KR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ETF</a:t>
            </a:r>
            <a:r>
              <a:rPr lang="ko-KR" altLang="en-US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를 추천할 수 있도록 함</a:t>
            </a:r>
            <a:endParaRPr lang="en-US" altLang="ko-KR" sz="3200" dirty="0">
              <a:solidFill>
                <a:schemeClr val="bg1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-</a:t>
            </a:r>
            <a:r>
              <a:rPr lang="ko-KR" altLang="en-US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또한</a:t>
            </a:r>
            <a:r>
              <a:rPr lang="en-US" altLang="ko-KR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사용자가 관심 있는 뉴스 주제를 선택할 수 있다는 효용성을 가짐</a:t>
            </a:r>
            <a:endParaRPr lang="en-US" altLang="ko-KR" sz="3200" dirty="0">
              <a:solidFill>
                <a:schemeClr val="bg1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3600" b="1" dirty="0">
              <a:solidFill>
                <a:schemeClr val="bg1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3600" b="1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2. </a:t>
            </a:r>
            <a:r>
              <a:rPr lang="ko-KR" altLang="en-US" sz="3600" b="1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변동성</a:t>
            </a:r>
            <a:endParaRPr lang="en-US" altLang="ko-KR" sz="3600" b="1" dirty="0">
              <a:solidFill>
                <a:schemeClr val="bg1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-</a:t>
            </a:r>
            <a:r>
              <a:rPr lang="ko-KR" altLang="en-US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빠르게</a:t>
            </a:r>
            <a:r>
              <a:rPr lang="en-US" altLang="ko-KR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ko-KR" altLang="en-US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변화하는 정책 및 사회적 정세를 반영하여 산업 키워드를 도출</a:t>
            </a:r>
            <a:r>
              <a:rPr lang="en-US" altLang="ko-KR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관련 </a:t>
            </a:r>
            <a:r>
              <a:rPr lang="en-US" altLang="ko-KR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ETF</a:t>
            </a:r>
            <a:r>
              <a:rPr lang="ko-KR" altLang="en-US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를 추천</a:t>
            </a:r>
            <a:endParaRPr lang="en-US" altLang="ko-KR" sz="3200" dirty="0">
              <a:solidFill>
                <a:schemeClr val="bg1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-</a:t>
            </a:r>
            <a:r>
              <a:rPr lang="ko-KR" altLang="en-US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추천된 </a:t>
            </a:r>
            <a:r>
              <a:rPr lang="en-US" altLang="ko-KR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ETF</a:t>
            </a:r>
            <a:r>
              <a:rPr lang="ko-KR" altLang="en-US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는 유동성</a:t>
            </a:r>
            <a:r>
              <a:rPr lang="en-US" altLang="ko-KR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수익성</a:t>
            </a:r>
            <a:r>
              <a:rPr lang="en-US" altLang="ko-KR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안정성 지표를 통해 검증되어</a:t>
            </a:r>
            <a:r>
              <a:rPr lang="en-US" altLang="ko-KR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시의성과 금융 </a:t>
            </a:r>
            <a:r>
              <a:rPr lang="ko-KR" altLang="en-US" sz="3200" dirty="0" err="1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상품으로서의</a:t>
            </a:r>
            <a:r>
              <a:rPr lang="ko-KR" altLang="en-US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 가치를 동시에 고려</a:t>
            </a:r>
            <a:r>
              <a:rPr lang="en-US" altLang="ko-KR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 </a:t>
            </a:r>
          </a:p>
          <a:p>
            <a:pPr>
              <a:lnSpc>
                <a:spcPct val="150000"/>
              </a:lnSpc>
            </a:pPr>
            <a:endParaRPr lang="en-US" altLang="ko-KR" sz="3600" b="1" dirty="0">
              <a:solidFill>
                <a:schemeClr val="bg1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3600" b="1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&gt;&gt;</a:t>
            </a:r>
            <a:r>
              <a:rPr lang="ko-KR" altLang="en-US" sz="3600" b="1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개인화된 맞춤형 추천과 시의성 높은 투자 기회를 제공하여</a:t>
            </a:r>
            <a:r>
              <a:rPr lang="en-US" altLang="ko-KR" sz="3600" b="1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3600" b="1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효율적인 투자 결정을 지원</a:t>
            </a:r>
            <a:endParaRPr lang="en-US" altLang="ko-KR" sz="3600" b="1" dirty="0">
              <a:solidFill>
                <a:schemeClr val="bg1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endParaRPr lang="ko-KR" altLang="en-US" sz="3600" b="1" dirty="0">
              <a:solidFill>
                <a:schemeClr val="bg1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7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334DCE-82A3-D551-84C5-752A0D095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>
            <a:extLst>
              <a:ext uri="{FF2B5EF4-FFF2-40B4-BE49-F238E27FC236}">
                <a16:creationId xmlns:a16="http://schemas.microsoft.com/office/drawing/2014/main" id="{647BEE57-BF0A-D041-6E49-87CFAC29C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0" y="0"/>
            <a:ext cx="4940300" cy="26543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D27BA02A-6C9F-61FC-4C5B-FFAE0467E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7700" y="7632700"/>
            <a:ext cx="4940300" cy="2654300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37088F4-157E-71CD-2EC1-8F73E61ECFB3}"/>
              </a:ext>
            </a:extLst>
          </p:cNvPr>
          <p:cNvSpPr txBox="1"/>
          <p:nvPr/>
        </p:nvSpPr>
        <p:spPr>
          <a:xfrm>
            <a:off x="1206500" y="965200"/>
            <a:ext cx="151003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99600"/>
              </a:lnSpc>
            </a:pPr>
            <a:endParaRPr lang="en-US" altLang="ko-KR" sz="6000" b="0" i="0" u="none" strike="noStrike" dirty="0">
              <a:solidFill>
                <a:schemeClr val="tx2">
                  <a:lumMod val="75000"/>
                </a:schemeClr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>
              <a:lnSpc>
                <a:spcPct val="99600"/>
              </a:lnSpc>
            </a:pPr>
            <a:r>
              <a:rPr lang="en-US" altLang="ko-KR" sz="6000" b="0" i="0" u="none" strike="noStrike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3. </a:t>
            </a:r>
            <a:r>
              <a:rPr lang="ko-KR" altLang="en-US" sz="6000" b="0" i="0" u="none" strike="noStrike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타 서비스와의 차별성 및 경제적 효용성</a:t>
            </a:r>
            <a:endParaRPr lang="en-US" altLang="ko-KR" sz="6000" b="0" i="0" u="none" strike="noStrike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>
              <a:lnSpc>
                <a:spcPct val="99600"/>
              </a:lnSpc>
            </a:pPr>
            <a:endParaRPr lang="ko-KR" sz="6000" b="0" i="0" u="none" strike="noStrike" dirty="0">
              <a:solidFill>
                <a:srgbClr val="FFFFFF"/>
              </a:solidFill>
              <a:ea typeface="Hallym Gothic Bold"/>
            </a:endParaRPr>
          </a:p>
        </p:txBody>
      </p:sp>
      <p:grpSp>
        <p:nvGrpSpPr>
          <p:cNvPr id="14" name="Group 14">
            <a:extLst>
              <a:ext uri="{FF2B5EF4-FFF2-40B4-BE49-F238E27FC236}">
                <a16:creationId xmlns:a16="http://schemas.microsoft.com/office/drawing/2014/main" id="{E5422D21-359B-0240-8D08-E579DBC0E877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4" name="Picture 24">
            <a:extLst>
              <a:ext uri="{FF2B5EF4-FFF2-40B4-BE49-F238E27FC236}">
                <a16:creationId xmlns:a16="http://schemas.microsoft.com/office/drawing/2014/main" id="{5154A408-20A3-35B4-B861-4F92DD0D3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8100" y="5765800"/>
            <a:ext cx="1358900" cy="5842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606E448B-3A90-E923-ECFB-EEC4C2C5B90B}"/>
              </a:ext>
            </a:extLst>
          </p:cNvPr>
          <p:cNvSpPr txBox="1"/>
          <p:nvPr/>
        </p:nvSpPr>
        <p:spPr>
          <a:xfrm>
            <a:off x="1293678" y="2064719"/>
            <a:ext cx="16700500" cy="923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600" b="1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3. </a:t>
            </a:r>
            <a:r>
              <a:rPr lang="ko-KR" altLang="en-US" sz="3600" b="1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신속성</a:t>
            </a:r>
            <a:endParaRPr lang="en-US" altLang="ko-KR" sz="3600" b="1" dirty="0">
              <a:solidFill>
                <a:schemeClr val="bg1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-</a:t>
            </a:r>
            <a:r>
              <a:rPr lang="ko-KR" altLang="en-US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실시간 데이터 분석</a:t>
            </a:r>
            <a:r>
              <a:rPr lang="en-US" altLang="ko-KR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: AI </a:t>
            </a:r>
            <a:r>
              <a:rPr lang="ko-KR" altLang="en-US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기반 시스템이 정책 변화와 사회적 이슈를 빠르게 반영하여 최신 </a:t>
            </a:r>
            <a:r>
              <a:rPr lang="en-US" altLang="ko-KR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ETF </a:t>
            </a:r>
            <a:r>
              <a:rPr lang="ko-KR" altLang="en-US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추천을 제공</a:t>
            </a:r>
            <a:endParaRPr lang="en-US" altLang="ko-KR" sz="3200" dirty="0">
              <a:solidFill>
                <a:schemeClr val="bg1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-</a:t>
            </a:r>
            <a:r>
              <a:rPr lang="ko-KR" altLang="en-US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즉각적 대응력</a:t>
            </a:r>
            <a:r>
              <a:rPr lang="en-US" altLang="ko-KR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: </a:t>
            </a:r>
            <a:r>
              <a:rPr lang="ko-KR" altLang="en-US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사용자가 입력한 검색 기준과 관심 뉴스 주제를 즉시 분석하여</a:t>
            </a:r>
            <a:r>
              <a:rPr lang="en-US" altLang="ko-KR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유연하고 정확한 투자 기회를 제안</a:t>
            </a:r>
            <a:r>
              <a:rPr lang="en-US" altLang="ko-KR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 </a:t>
            </a:r>
          </a:p>
          <a:p>
            <a:pPr>
              <a:lnSpc>
                <a:spcPct val="150000"/>
              </a:lnSpc>
            </a:pPr>
            <a:endParaRPr lang="en-US" altLang="ko-KR" sz="3200" dirty="0">
              <a:solidFill>
                <a:schemeClr val="bg1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3600" b="1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4. </a:t>
            </a:r>
            <a:r>
              <a:rPr lang="ko-KR" altLang="en-US" sz="3600" b="1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정형성</a:t>
            </a:r>
            <a:endParaRPr lang="en-US" altLang="ko-KR" sz="3600" b="1" dirty="0">
              <a:solidFill>
                <a:schemeClr val="bg1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-</a:t>
            </a:r>
            <a:r>
              <a:rPr lang="ko-KR" altLang="en-US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타 </a:t>
            </a:r>
            <a:r>
              <a:rPr lang="en-US" altLang="ko-KR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LLM </a:t>
            </a:r>
            <a:r>
              <a:rPr lang="ko-KR" altLang="en-US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서비스의 구체성 부족이라는 한계를 보완하기 위해 정형화된 분석  틀을 도입</a:t>
            </a:r>
            <a:endParaRPr lang="en-US" altLang="ko-KR" sz="3200" dirty="0">
              <a:solidFill>
                <a:schemeClr val="bg1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-ETF </a:t>
            </a:r>
            <a:r>
              <a:rPr lang="ko-KR" altLang="en-US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추천 시 정확한 지표</a:t>
            </a:r>
            <a:r>
              <a:rPr lang="en-US" altLang="ko-KR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ko-KR" altLang="en-US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유동성</a:t>
            </a:r>
            <a:r>
              <a:rPr lang="en-US" altLang="ko-KR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수익성</a:t>
            </a:r>
            <a:r>
              <a:rPr lang="en-US" altLang="ko-KR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안정성</a:t>
            </a:r>
            <a:r>
              <a:rPr lang="en-US" altLang="ko-KR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)</a:t>
            </a:r>
            <a:r>
              <a:rPr lang="ko-KR" altLang="en-US" sz="32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를 기반으로 구체적이고 실행 가능한 답변을 제공</a:t>
            </a:r>
            <a:endParaRPr lang="en-US" altLang="ko-KR" sz="3200" dirty="0">
              <a:solidFill>
                <a:schemeClr val="bg1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3200" dirty="0">
              <a:solidFill>
                <a:schemeClr val="bg1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3600" b="1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&gt;&gt;</a:t>
            </a:r>
            <a:r>
              <a:rPr lang="ko-KR" altLang="en-US" sz="3600" b="1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신속성과 정형화된 답변 시스템으로 타 서비스 대비 차별화된 경제적 효용성을 제공</a:t>
            </a:r>
            <a:endParaRPr lang="en-US" altLang="ko-KR" sz="3600" b="1" dirty="0">
              <a:solidFill>
                <a:schemeClr val="bg1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3600" b="1" dirty="0">
              <a:solidFill>
                <a:schemeClr val="bg1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3600" b="1" dirty="0">
              <a:solidFill>
                <a:schemeClr val="bg1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endParaRPr lang="ko-KR" altLang="en-US" sz="3600" b="1" dirty="0">
              <a:solidFill>
                <a:schemeClr val="bg1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9499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AAE8D-7DCB-4990-B94E-37C28449F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4CA569F-1B7B-D69F-F435-457A4C0D1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700" y="546100"/>
            <a:ext cx="723900" cy="635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5A580B5A-5E6A-270E-5B15-F6DFDA1220A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2019300" y="1943100"/>
            <a:ext cx="14346124" cy="741600"/>
          </a:xfrm>
          <a:prstGeom prst="rect">
            <a:avLst/>
          </a:prstGeom>
        </p:spPr>
      </p:pic>
      <p:sp>
        <p:nvSpPr>
          <p:cNvPr id="22" name="TextBox 22">
            <a:extLst>
              <a:ext uri="{FF2B5EF4-FFF2-40B4-BE49-F238E27FC236}">
                <a16:creationId xmlns:a16="http://schemas.microsoft.com/office/drawing/2014/main" id="{9B3F60DB-4F3E-B364-CA8A-483644B14660}"/>
              </a:ext>
            </a:extLst>
          </p:cNvPr>
          <p:cNvSpPr txBox="1"/>
          <p:nvPr/>
        </p:nvSpPr>
        <p:spPr>
          <a:xfrm>
            <a:off x="7480300" y="8585200"/>
            <a:ext cx="3378200" cy="67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3800" b="0" i="0" u="none" strike="noStrike" dirty="0">
                <a:solidFill>
                  <a:srgbClr val="FFFFFF"/>
                </a:solidFill>
                <a:ea typeface="Hallym Gothic Bold"/>
              </a:rPr>
              <a:t>기술</a:t>
            </a:r>
            <a:r>
              <a:rPr lang="en-US" sz="38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3800" b="0" i="0" u="none" strike="noStrike" dirty="0">
                <a:solidFill>
                  <a:srgbClr val="FFFFFF"/>
                </a:solidFill>
                <a:ea typeface="Hallym Gothic Bold"/>
              </a:rPr>
              <a:t>패권</a:t>
            </a:r>
            <a:r>
              <a:rPr lang="en-US" sz="38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3800" b="0" i="0" u="none" strike="noStrike" dirty="0">
                <a:solidFill>
                  <a:srgbClr val="FFFFFF"/>
                </a:solidFill>
                <a:ea typeface="Hallym Gothic Bold"/>
              </a:rPr>
              <a:t>경쟁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A5F42881-387F-F52C-B2E3-919660931B58}"/>
              </a:ext>
            </a:extLst>
          </p:cNvPr>
          <p:cNvSpPr txBox="1"/>
          <p:nvPr/>
        </p:nvSpPr>
        <p:spPr>
          <a:xfrm>
            <a:off x="4203700" y="914400"/>
            <a:ext cx="98806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4400" b="0" i="0" u="none" strike="noStrike" dirty="0">
                <a:solidFill>
                  <a:srgbClr val="004671"/>
                </a:solidFill>
                <a:latin typeface="프리젠테이션 6 SemiBold" pitchFamily="2" charset="-127"/>
                <a:ea typeface="프리젠테이션 6 SemiBold" pitchFamily="2" charset="-127"/>
              </a:rPr>
              <a:t>4.</a:t>
            </a:r>
            <a:r>
              <a:rPr lang="ko-KR" altLang="en-US" sz="4400" b="0" i="0" u="none" strike="noStrike" dirty="0">
                <a:solidFill>
                  <a:srgbClr val="004671"/>
                </a:solidFill>
                <a:latin typeface="프리젠테이션 6 SemiBold" pitchFamily="2" charset="-127"/>
                <a:ea typeface="프리젠테이션 6 SemiBold" pitchFamily="2" charset="-127"/>
              </a:rPr>
              <a:t> 데이터 활용</a:t>
            </a:r>
            <a:endParaRPr lang="ko-KR" sz="4400" b="0" i="0" u="none" strike="noStrike" dirty="0">
              <a:solidFill>
                <a:srgbClr val="00467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C1A03492-22EB-52FE-4ED0-8DBA5772812F}"/>
              </a:ext>
            </a:extLst>
          </p:cNvPr>
          <p:cNvSpPr txBox="1"/>
          <p:nvPr/>
        </p:nvSpPr>
        <p:spPr>
          <a:xfrm>
            <a:off x="2387600" y="1968500"/>
            <a:ext cx="135128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800" b="0" i="0" u="none" strike="noStrike" dirty="0">
                <a:solidFill>
                  <a:srgbClr val="004671"/>
                </a:solidFill>
                <a:latin typeface="프리젠테이션 6 SemiBold" pitchFamily="2" charset="-127"/>
                <a:ea typeface="프리젠테이션 6 SemiBold" pitchFamily="2" charset="-127"/>
              </a:rPr>
              <a:t>1. </a:t>
            </a:r>
            <a:r>
              <a:rPr lang="ko-KR" altLang="en-US" sz="2800" dirty="0">
                <a:solidFill>
                  <a:srgbClr val="004671"/>
                </a:solidFill>
                <a:latin typeface="프리젠테이션 6 SemiBold" pitchFamily="2" charset="-127"/>
                <a:ea typeface="프리젠테이션 6 SemiBold" pitchFamily="2" charset="-127"/>
              </a:rPr>
              <a:t>관련 산업 </a:t>
            </a:r>
            <a:r>
              <a:rPr lang="en-US" altLang="ko-KR" sz="2800" dirty="0">
                <a:solidFill>
                  <a:srgbClr val="004671"/>
                </a:solidFill>
                <a:latin typeface="프리젠테이션 6 SemiBold" pitchFamily="2" charset="-127"/>
                <a:ea typeface="프리젠테이션 6 SemiBold" pitchFamily="2" charset="-127"/>
              </a:rPr>
              <a:t>ETF</a:t>
            </a:r>
            <a:r>
              <a:rPr lang="ko-KR" altLang="en-US" sz="2800" dirty="0">
                <a:solidFill>
                  <a:srgbClr val="004671"/>
                </a:solidFill>
                <a:latin typeface="프리젠테이션 6 SemiBold" pitchFamily="2" charset="-127"/>
                <a:ea typeface="프리젠테이션 6 SemiBold" pitchFamily="2" charset="-127"/>
              </a:rPr>
              <a:t> 선정</a:t>
            </a:r>
            <a:endParaRPr lang="en-US" sz="2800" b="0" i="0" u="none" strike="noStrike" dirty="0">
              <a:solidFill>
                <a:srgbClr val="00467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B5FE6FC1-1A77-2889-2490-C164F2720456}"/>
              </a:ext>
            </a:extLst>
          </p:cNvPr>
          <p:cNvSpPr txBox="1"/>
          <p:nvPr/>
        </p:nvSpPr>
        <p:spPr>
          <a:xfrm>
            <a:off x="7670800" y="3454400"/>
            <a:ext cx="2946400" cy="67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3800" b="0" i="0" u="none" strike="noStrike" dirty="0">
                <a:solidFill>
                  <a:srgbClr val="FFFFFF"/>
                </a:solidFill>
                <a:ea typeface="Hallym Gothic Bold"/>
              </a:rPr>
              <a:t>무역</a:t>
            </a:r>
            <a:r>
              <a:rPr lang="en-US" sz="38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3800" b="0" i="0" u="none" strike="noStrike" dirty="0">
                <a:solidFill>
                  <a:srgbClr val="FFFFFF"/>
                </a:solidFill>
                <a:ea typeface="Hallym Gothic Bold"/>
              </a:rPr>
              <a:t>불균형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3223617-44AE-4B47-44D5-6C5F208BBEC6}"/>
              </a:ext>
            </a:extLst>
          </p:cNvPr>
          <p:cNvSpPr txBox="1"/>
          <p:nvPr/>
        </p:nvSpPr>
        <p:spPr>
          <a:xfrm>
            <a:off x="6464300" y="6667500"/>
            <a:ext cx="5359400" cy="736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2000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년대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이후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중국의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경제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부상과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 </a:t>
            </a:r>
          </a:p>
          <a:p>
            <a:pPr lvl="0" algn="ctr">
              <a:lnSpc>
                <a:spcPct val="124499"/>
              </a:lnSpc>
            </a:pP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미국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경제에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미친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영향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3596522A-4320-FB4A-3A73-7E5353CE40EA}"/>
              </a:ext>
            </a:extLst>
          </p:cNvPr>
          <p:cNvSpPr txBox="1"/>
          <p:nvPr/>
        </p:nvSpPr>
        <p:spPr>
          <a:xfrm>
            <a:off x="1346200" y="5905500"/>
            <a:ext cx="34544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600" b="0" i="0" u="none" strike="noStrike">
                <a:solidFill>
                  <a:srgbClr val="FFFFFF"/>
                </a:solidFill>
                <a:ea typeface="Hallym Gothic Bold"/>
              </a:rPr>
              <a:t>트럼프</a:t>
            </a:r>
            <a:r>
              <a:rPr lang="en-US" sz="2600" b="0" i="0" u="none" strike="noStrike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600" b="0" i="0" u="none" strike="noStrike">
                <a:solidFill>
                  <a:srgbClr val="FFFFFF"/>
                </a:solidFill>
                <a:ea typeface="Hallym Gothic Bold"/>
              </a:rPr>
              <a:t>행정부의</a:t>
            </a:r>
            <a:r>
              <a:rPr lang="en-US" sz="2600" b="0" i="0" u="none" strike="noStrike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600" b="0" i="0" u="none" strike="noStrike">
                <a:solidFill>
                  <a:srgbClr val="FFFFFF"/>
                </a:solidFill>
                <a:ea typeface="Hallym Gothic Bold"/>
              </a:rPr>
              <a:t>등장과</a:t>
            </a:r>
            <a:r>
              <a:rPr lang="en-US" sz="2600" b="0" i="0" u="none" strike="noStrike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600" b="0" i="0" u="none" strike="noStrike">
                <a:solidFill>
                  <a:srgbClr val="FFFFFF"/>
                </a:solidFill>
                <a:ea typeface="Hallym Gothic Bold"/>
              </a:rPr>
              <a:t>보호무역주의</a:t>
            </a:r>
            <a:r>
              <a:rPr lang="en-US" sz="2600" b="0" i="0" u="none" strike="noStrike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600" b="0" i="0" u="none" strike="noStrike">
                <a:solidFill>
                  <a:srgbClr val="FFFFFF"/>
                </a:solidFill>
                <a:ea typeface="Hallym Gothic Bold"/>
              </a:rPr>
              <a:t>강화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8DE78DF-83B5-1085-EA2B-CF4BD1D2FF1E}"/>
              </a:ext>
            </a:extLst>
          </p:cNvPr>
          <p:cNvSpPr txBox="1"/>
          <p:nvPr/>
        </p:nvSpPr>
        <p:spPr>
          <a:xfrm>
            <a:off x="13754100" y="5842000"/>
            <a:ext cx="3149600" cy="965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900" b="0" i="0" u="none" strike="noStrike" dirty="0">
                <a:solidFill>
                  <a:srgbClr val="FFFFFF"/>
                </a:solidFill>
                <a:ea typeface="Hallym Gothic Bold"/>
              </a:rPr>
              <a:t>중국의</a:t>
            </a:r>
            <a:r>
              <a:rPr lang="en-US" sz="29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900" b="0" i="0" u="none" strike="noStrike" dirty="0">
                <a:solidFill>
                  <a:srgbClr val="FFFFFF"/>
                </a:solidFill>
                <a:ea typeface="Hallym Gothic Bold"/>
              </a:rPr>
              <a:t>산업</a:t>
            </a:r>
            <a:r>
              <a:rPr lang="en-US" sz="29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900" b="0" i="0" u="none" strike="noStrike" dirty="0">
                <a:solidFill>
                  <a:srgbClr val="FFFFFF"/>
                </a:solidFill>
                <a:ea typeface="Hallym Gothic Bold"/>
              </a:rPr>
              <a:t>정책과</a:t>
            </a:r>
            <a:r>
              <a:rPr lang="en-US" sz="29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900" b="0" i="0" u="none" strike="noStrike" dirty="0">
                <a:solidFill>
                  <a:srgbClr val="FFFFFF"/>
                </a:solidFill>
                <a:ea typeface="Hallym Gothic Bold"/>
              </a:rPr>
              <a:t>불공정</a:t>
            </a:r>
            <a:r>
              <a:rPr lang="en-US" sz="29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900" b="0" i="0" u="none" strike="noStrike" dirty="0">
                <a:solidFill>
                  <a:srgbClr val="FFFFFF"/>
                </a:solidFill>
                <a:ea typeface="Hallym Gothic Bold"/>
              </a:rPr>
              <a:t>경쟁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88D2DE6-C42A-7B66-DD62-A71B05E345EE}"/>
              </a:ext>
            </a:extLst>
          </p:cNvPr>
          <p:cNvSpPr txBox="1"/>
          <p:nvPr/>
        </p:nvSpPr>
        <p:spPr>
          <a:xfrm>
            <a:off x="2067662" y="3016237"/>
            <a:ext cx="142494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3600" dirty="0">
                <a:latin typeface="프리젠테이션 6 SemiBold" pitchFamily="2" charset="-127"/>
                <a:ea typeface="프리젠테이션 6 SemiBold" pitchFamily="2" charset="-127"/>
              </a:rPr>
              <a:t>-</a:t>
            </a:r>
            <a:r>
              <a:rPr lang="ko-KR" altLang="en-US" sz="3600" dirty="0">
                <a:latin typeface="프리젠테이션 6 SemiBold" pitchFamily="2" charset="-127"/>
                <a:ea typeface="프리젠테이션 6 SemiBold" pitchFamily="2" charset="-127"/>
              </a:rPr>
              <a:t> 뉴스 주제와 관련된 산업 선정</a:t>
            </a:r>
            <a:endParaRPr lang="en-US" altLang="ko-KR" sz="3600" dirty="0">
              <a:latin typeface="프리젠테이션 6 SemiBold" pitchFamily="2" charset="-127"/>
              <a:ea typeface="프리젠테이션 6 SemiBold" pitchFamily="2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Perplexity</a:t>
            </a:r>
            <a:r>
              <a:rPr lang="ko-KR" altLang="en-US" sz="3600" dirty="0" err="1">
                <a:latin typeface="프리젠테이션 4 Regular" pitchFamily="2" charset="-127"/>
                <a:ea typeface="프리젠테이션 4 Regular" pitchFamily="2" charset="-127"/>
              </a:rPr>
              <a:t>를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 통해 뉴스 주제와 관련된 산업 정보 추출</a:t>
            </a:r>
            <a:endParaRPr lang="en-US" altLang="ko-KR" sz="36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이를 바탕으로 해외종목정보의 </a:t>
            </a:r>
            <a:r>
              <a:rPr lang="ko-KR" altLang="en-US" sz="3600" dirty="0" err="1">
                <a:latin typeface="프리젠테이션 4 Regular" pitchFamily="2" charset="-127"/>
                <a:ea typeface="프리젠테이션 4 Regular" pitchFamily="2" charset="-127"/>
              </a:rPr>
              <a:t>산업명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 데이터를 이용해 관련 산업 선정</a:t>
            </a:r>
            <a:endParaRPr lang="en-US" altLang="ko-KR" sz="36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3600" dirty="0">
                <a:latin typeface="프리젠테이션 6 SemiBold" pitchFamily="2" charset="-127"/>
                <a:ea typeface="프리젠테이션 6 SemiBold" pitchFamily="2" charset="-127"/>
              </a:rPr>
              <a:t>-</a:t>
            </a:r>
            <a:r>
              <a:rPr lang="ko-KR" altLang="en-US" sz="3600" dirty="0">
                <a:latin typeface="프리젠테이션 6 SemiBold" pitchFamily="2" charset="-127"/>
                <a:ea typeface="프리젠테이션 6 SemiBold" pitchFamily="2" charset="-127"/>
              </a:rPr>
              <a:t> 해당  산업과 관련된 </a:t>
            </a:r>
            <a:r>
              <a:rPr lang="en-US" altLang="ko-KR" sz="3600" dirty="0">
                <a:latin typeface="프리젠테이션 6 SemiBold" pitchFamily="2" charset="-127"/>
                <a:ea typeface="프리젠테이션 6 SemiBold" pitchFamily="2" charset="-127"/>
              </a:rPr>
              <a:t>ETF</a:t>
            </a:r>
            <a:r>
              <a:rPr lang="ko-KR" altLang="en-US" sz="3600" dirty="0">
                <a:latin typeface="프리젠테이션 6 SemiBold" pitchFamily="2" charset="-127"/>
                <a:ea typeface="프리젠테이션 6 SemiBold" pitchFamily="2" charset="-127"/>
              </a:rPr>
              <a:t> 추출</a:t>
            </a:r>
          </a:p>
          <a:p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자산비중 데이터의 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ETF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ko-KR" altLang="en-US" sz="3600" dirty="0" err="1">
                <a:latin typeface="프리젠테이션 4 Regular" pitchFamily="2" charset="-127"/>
                <a:ea typeface="프리젠테이션 4 Regular" pitchFamily="2" charset="-127"/>
              </a:rPr>
              <a:t>티커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 명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&amp;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자산 비율 정보를 이용해 산업과 관련된 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ETF/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주식 추출</a:t>
            </a:r>
            <a:endParaRPr lang="en-US" altLang="ko-KR" sz="36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2423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FC52D-CA13-81FE-067D-9F572A3B1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BAA43F5-E902-557F-0C2F-DDF34470E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700" y="546100"/>
            <a:ext cx="723900" cy="635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29B9B593-2701-FA00-A083-0063EFDA8ED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2019300" y="1943100"/>
            <a:ext cx="14346124" cy="741600"/>
          </a:xfrm>
          <a:prstGeom prst="rect">
            <a:avLst/>
          </a:prstGeom>
        </p:spPr>
      </p:pic>
      <p:sp>
        <p:nvSpPr>
          <p:cNvPr id="22" name="TextBox 22">
            <a:extLst>
              <a:ext uri="{FF2B5EF4-FFF2-40B4-BE49-F238E27FC236}">
                <a16:creationId xmlns:a16="http://schemas.microsoft.com/office/drawing/2014/main" id="{84A4DA8B-8EEE-C190-E65D-7E70615161B9}"/>
              </a:ext>
            </a:extLst>
          </p:cNvPr>
          <p:cNvSpPr txBox="1"/>
          <p:nvPr/>
        </p:nvSpPr>
        <p:spPr>
          <a:xfrm>
            <a:off x="7480300" y="8585200"/>
            <a:ext cx="3378200" cy="67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3800" b="0" i="0" u="none" strike="noStrike" dirty="0">
                <a:solidFill>
                  <a:srgbClr val="FFFFFF"/>
                </a:solidFill>
                <a:ea typeface="Hallym Gothic Bold"/>
              </a:rPr>
              <a:t>기술</a:t>
            </a:r>
            <a:r>
              <a:rPr lang="en-US" sz="38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3800" b="0" i="0" u="none" strike="noStrike" dirty="0">
                <a:solidFill>
                  <a:srgbClr val="FFFFFF"/>
                </a:solidFill>
                <a:ea typeface="Hallym Gothic Bold"/>
              </a:rPr>
              <a:t>패권</a:t>
            </a:r>
            <a:r>
              <a:rPr lang="en-US" sz="38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3800" b="0" i="0" u="none" strike="noStrike" dirty="0">
                <a:solidFill>
                  <a:srgbClr val="FFFFFF"/>
                </a:solidFill>
                <a:ea typeface="Hallym Gothic Bold"/>
              </a:rPr>
              <a:t>경쟁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C15DA8A4-C731-C9D2-AE3A-1731CCC8D5CB}"/>
              </a:ext>
            </a:extLst>
          </p:cNvPr>
          <p:cNvSpPr txBox="1"/>
          <p:nvPr/>
        </p:nvSpPr>
        <p:spPr>
          <a:xfrm>
            <a:off x="4203700" y="914400"/>
            <a:ext cx="98806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4400" b="0" i="0" u="none" strike="noStrike" dirty="0">
                <a:solidFill>
                  <a:srgbClr val="004671"/>
                </a:solidFill>
                <a:latin typeface="프리젠테이션 6 SemiBold" pitchFamily="2" charset="-127"/>
                <a:ea typeface="프리젠테이션 6 SemiBold" pitchFamily="2" charset="-127"/>
              </a:rPr>
              <a:t>4.</a:t>
            </a:r>
            <a:r>
              <a:rPr lang="ko-KR" altLang="en-US" sz="4400" b="0" i="0" u="none" strike="noStrike" dirty="0">
                <a:solidFill>
                  <a:srgbClr val="004671"/>
                </a:solidFill>
                <a:latin typeface="프리젠테이션 6 SemiBold" pitchFamily="2" charset="-127"/>
                <a:ea typeface="프리젠테이션 6 SemiBold" pitchFamily="2" charset="-127"/>
              </a:rPr>
              <a:t> 데이터 활용</a:t>
            </a:r>
            <a:endParaRPr lang="ko-KR" sz="4400" b="0" i="0" u="none" strike="noStrike" dirty="0">
              <a:solidFill>
                <a:srgbClr val="00467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94D553D7-1223-D605-C0C0-E9B5D0C9166E}"/>
              </a:ext>
            </a:extLst>
          </p:cNvPr>
          <p:cNvSpPr txBox="1"/>
          <p:nvPr/>
        </p:nvSpPr>
        <p:spPr>
          <a:xfrm>
            <a:off x="2387600" y="1968500"/>
            <a:ext cx="135128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800" b="0" i="0" u="none" strike="noStrike" dirty="0">
                <a:solidFill>
                  <a:srgbClr val="004671"/>
                </a:solidFill>
                <a:latin typeface="프리젠테이션 6 SemiBold" pitchFamily="2" charset="-127"/>
                <a:ea typeface="프리젠테이션 6 SemiBold" pitchFamily="2" charset="-127"/>
              </a:rPr>
              <a:t>2. ETF </a:t>
            </a:r>
            <a:r>
              <a:rPr lang="ko-KR" altLang="en-US" sz="2800" b="0" i="0" u="none" strike="noStrike" dirty="0">
                <a:solidFill>
                  <a:srgbClr val="004671"/>
                </a:solidFill>
                <a:latin typeface="프리젠테이션 6 SemiBold" pitchFamily="2" charset="-127"/>
                <a:ea typeface="프리젠테이션 6 SemiBold" pitchFamily="2" charset="-127"/>
              </a:rPr>
              <a:t>평가 지표 도출</a:t>
            </a:r>
            <a:endParaRPr lang="en-US" sz="2800" b="0" i="0" u="none" strike="noStrike" dirty="0">
              <a:solidFill>
                <a:srgbClr val="00467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9E8DB384-0C4D-DF42-A6A1-49E42FD72714}"/>
              </a:ext>
            </a:extLst>
          </p:cNvPr>
          <p:cNvSpPr txBox="1"/>
          <p:nvPr/>
        </p:nvSpPr>
        <p:spPr>
          <a:xfrm>
            <a:off x="7670800" y="3454400"/>
            <a:ext cx="2946400" cy="67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3800" b="0" i="0" u="none" strike="noStrike" dirty="0">
                <a:solidFill>
                  <a:srgbClr val="FFFFFF"/>
                </a:solidFill>
                <a:ea typeface="Hallym Gothic Bold"/>
              </a:rPr>
              <a:t>무역</a:t>
            </a:r>
            <a:r>
              <a:rPr lang="en-US" sz="38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3800" b="0" i="0" u="none" strike="noStrike" dirty="0">
                <a:solidFill>
                  <a:srgbClr val="FFFFFF"/>
                </a:solidFill>
                <a:ea typeface="Hallym Gothic Bold"/>
              </a:rPr>
              <a:t>불균형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96E292CE-D283-DEAB-A35F-9F051FE4D3C5}"/>
              </a:ext>
            </a:extLst>
          </p:cNvPr>
          <p:cNvSpPr txBox="1"/>
          <p:nvPr/>
        </p:nvSpPr>
        <p:spPr>
          <a:xfrm>
            <a:off x="6464300" y="6667500"/>
            <a:ext cx="5359400" cy="736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2000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년대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이후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중국의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경제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부상과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 </a:t>
            </a:r>
          </a:p>
          <a:p>
            <a:pPr lvl="0" algn="ctr">
              <a:lnSpc>
                <a:spcPct val="124499"/>
              </a:lnSpc>
            </a:pP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미국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경제에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미친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영향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55E7B68E-35A4-8346-F30E-AD9E3C2F571B}"/>
              </a:ext>
            </a:extLst>
          </p:cNvPr>
          <p:cNvSpPr txBox="1"/>
          <p:nvPr/>
        </p:nvSpPr>
        <p:spPr>
          <a:xfrm>
            <a:off x="1346200" y="5905500"/>
            <a:ext cx="34544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600" b="0" i="0" u="none" strike="noStrike">
                <a:solidFill>
                  <a:srgbClr val="FFFFFF"/>
                </a:solidFill>
                <a:ea typeface="Hallym Gothic Bold"/>
              </a:rPr>
              <a:t>트럼프</a:t>
            </a:r>
            <a:r>
              <a:rPr lang="en-US" sz="2600" b="0" i="0" u="none" strike="noStrike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600" b="0" i="0" u="none" strike="noStrike">
                <a:solidFill>
                  <a:srgbClr val="FFFFFF"/>
                </a:solidFill>
                <a:ea typeface="Hallym Gothic Bold"/>
              </a:rPr>
              <a:t>행정부의</a:t>
            </a:r>
            <a:r>
              <a:rPr lang="en-US" sz="2600" b="0" i="0" u="none" strike="noStrike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600" b="0" i="0" u="none" strike="noStrike">
                <a:solidFill>
                  <a:srgbClr val="FFFFFF"/>
                </a:solidFill>
                <a:ea typeface="Hallym Gothic Bold"/>
              </a:rPr>
              <a:t>등장과</a:t>
            </a:r>
            <a:r>
              <a:rPr lang="en-US" sz="2600" b="0" i="0" u="none" strike="noStrike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600" b="0" i="0" u="none" strike="noStrike">
                <a:solidFill>
                  <a:srgbClr val="FFFFFF"/>
                </a:solidFill>
                <a:ea typeface="Hallym Gothic Bold"/>
              </a:rPr>
              <a:t>보호무역주의</a:t>
            </a:r>
            <a:r>
              <a:rPr lang="en-US" sz="2600" b="0" i="0" u="none" strike="noStrike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600" b="0" i="0" u="none" strike="noStrike">
                <a:solidFill>
                  <a:srgbClr val="FFFFFF"/>
                </a:solidFill>
                <a:ea typeface="Hallym Gothic Bold"/>
              </a:rPr>
              <a:t>강화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F1064222-8487-49D6-83AA-3BD5F25598BB}"/>
              </a:ext>
            </a:extLst>
          </p:cNvPr>
          <p:cNvSpPr txBox="1"/>
          <p:nvPr/>
        </p:nvSpPr>
        <p:spPr>
          <a:xfrm>
            <a:off x="13754100" y="5842000"/>
            <a:ext cx="3149600" cy="965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900" b="0" i="0" u="none" strike="noStrike" dirty="0">
                <a:solidFill>
                  <a:srgbClr val="FFFFFF"/>
                </a:solidFill>
                <a:ea typeface="Hallym Gothic Bold"/>
              </a:rPr>
              <a:t>중국의</a:t>
            </a:r>
            <a:r>
              <a:rPr lang="en-US" sz="29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900" b="0" i="0" u="none" strike="noStrike" dirty="0">
                <a:solidFill>
                  <a:srgbClr val="FFFFFF"/>
                </a:solidFill>
                <a:ea typeface="Hallym Gothic Bold"/>
              </a:rPr>
              <a:t>산업</a:t>
            </a:r>
            <a:r>
              <a:rPr lang="en-US" sz="29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900" b="0" i="0" u="none" strike="noStrike" dirty="0">
                <a:solidFill>
                  <a:srgbClr val="FFFFFF"/>
                </a:solidFill>
                <a:ea typeface="Hallym Gothic Bold"/>
              </a:rPr>
              <a:t>정책과</a:t>
            </a:r>
            <a:r>
              <a:rPr lang="en-US" sz="29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900" b="0" i="0" u="none" strike="noStrike" dirty="0">
                <a:solidFill>
                  <a:srgbClr val="FFFFFF"/>
                </a:solidFill>
                <a:ea typeface="Hallym Gothic Bold"/>
              </a:rPr>
              <a:t>불공정</a:t>
            </a:r>
            <a:r>
              <a:rPr lang="en-US" sz="29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900" b="0" i="0" u="none" strike="noStrike" dirty="0">
                <a:solidFill>
                  <a:srgbClr val="FFFFFF"/>
                </a:solidFill>
                <a:ea typeface="Hallym Gothic Bold"/>
              </a:rPr>
              <a:t>경쟁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14E8715-2312-3DD7-879B-294D036E1E87}"/>
              </a:ext>
            </a:extLst>
          </p:cNvPr>
          <p:cNvSpPr txBox="1"/>
          <p:nvPr/>
        </p:nvSpPr>
        <p:spPr>
          <a:xfrm>
            <a:off x="2044700" y="2707640"/>
            <a:ext cx="16243300" cy="656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3600" dirty="0">
                <a:latin typeface="프리젠테이션 6 SemiBold" pitchFamily="2" charset="-127"/>
                <a:ea typeface="프리젠테이션 6 SemiBold" pitchFamily="2" charset="-127"/>
              </a:rPr>
              <a:t>-</a:t>
            </a:r>
            <a:r>
              <a:rPr lang="ko-KR" altLang="en-US" sz="3600" dirty="0"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en-US" altLang="ko-KR" sz="3600" dirty="0">
                <a:latin typeface="프리젠테이션 6 SemiBold" pitchFamily="2" charset="-127"/>
                <a:ea typeface="프리젠테이션 6 SemiBold" pitchFamily="2" charset="-127"/>
              </a:rPr>
              <a:t>ETF</a:t>
            </a:r>
            <a:r>
              <a:rPr lang="ko-KR" altLang="en-US" sz="3600" dirty="0">
                <a:latin typeface="프리젠테이션 6 SemiBold" pitchFamily="2" charset="-127"/>
                <a:ea typeface="프리젠테이션 6 SemiBold" pitchFamily="2" charset="-127"/>
              </a:rPr>
              <a:t> 평가지표 도출</a:t>
            </a:r>
            <a:endParaRPr lang="en-US" altLang="ko-KR" sz="3600" dirty="0">
              <a:latin typeface="프리젠테이션 6 SemiBold" pitchFamily="2" charset="-127"/>
              <a:ea typeface="프리젠테이션 6 SemiBold" pitchFamily="2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3600" dirty="0"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누적 거래량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,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 거래대금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: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ko-KR" altLang="en-US" sz="3600" dirty="0" err="1">
                <a:latin typeface="프리젠테이션 4 Regular" pitchFamily="2" charset="-127"/>
                <a:ea typeface="프리젠테이션 4 Regular" pitchFamily="2" charset="-127"/>
              </a:rPr>
              <a:t>종목일자별시세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data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의 누적 거래량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,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 거래대금 평균값 이용</a:t>
            </a:r>
            <a:endParaRPr lang="en-US" altLang="ko-KR" sz="36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 누적 수익률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,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 정보비율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,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 최대 낙폭 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Z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점수</a:t>
            </a:r>
            <a:endParaRPr lang="en-US" altLang="ko-KR" sz="36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  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: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ko-KR" altLang="en-US" sz="3600" dirty="0" err="1">
                <a:latin typeface="프리젠테이션 4 Regular" pitchFamily="2" charset="-127"/>
                <a:ea typeface="프리젠테이션 4 Regular" pitchFamily="2" charset="-127"/>
              </a:rPr>
              <a:t>종목일자별시세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data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의 수익률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,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 최고가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,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 최저가 정보 이용</a:t>
            </a:r>
            <a:endParaRPr lang="en-US" altLang="ko-KR" sz="36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 정보비율 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Z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점수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: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 기준 지표로 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S&amp;P500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지수를 이용</a:t>
            </a:r>
            <a:endParaRPr lang="en-US" altLang="ko-KR" sz="36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 배당금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: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 배당금 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data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와  </a:t>
            </a:r>
            <a:r>
              <a:rPr lang="ko-KR" altLang="en-US" sz="3600" dirty="0" err="1">
                <a:latin typeface="프리젠테이션 4 Regular" pitchFamily="2" charset="-127"/>
                <a:ea typeface="프리젠테이션 4 Regular" pitchFamily="2" charset="-127"/>
              </a:rPr>
              <a:t>종목일자별시세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data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의 주가 정보 이용 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주가 당 배당금 비율 계산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64077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AA85A-7585-3AD2-7190-8C2347E53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A975DD2-4728-4CCB-54A0-1BE5C26FF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700" y="546100"/>
            <a:ext cx="723900" cy="635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DB34DEA0-B716-1FC2-F776-EF4C6D3F572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2019300" y="1943100"/>
            <a:ext cx="14346124" cy="741600"/>
          </a:xfrm>
          <a:prstGeom prst="rect">
            <a:avLst/>
          </a:prstGeom>
        </p:spPr>
      </p:pic>
      <p:sp>
        <p:nvSpPr>
          <p:cNvPr id="22" name="TextBox 22">
            <a:extLst>
              <a:ext uri="{FF2B5EF4-FFF2-40B4-BE49-F238E27FC236}">
                <a16:creationId xmlns:a16="http://schemas.microsoft.com/office/drawing/2014/main" id="{D52C4EBC-E7B3-A599-0F4B-ECBCC06979C7}"/>
              </a:ext>
            </a:extLst>
          </p:cNvPr>
          <p:cNvSpPr txBox="1"/>
          <p:nvPr/>
        </p:nvSpPr>
        <p:spPr>
          <a:xfrm>
            <a:off x="7480300" y="8585200"/>
            <a:ext cx="3378200" cy="67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3800" b="0" i="0" u="none" strike="noStrike" dirty="0">
                <a:solidFill>
                  <a:srgbClr val="FFFFFF"/>
                </a:solidFill>
                <a:ea typeface="Hallym Gothic Bold"/>
              </a:rPr>
              <a:t>기술</a:t>
            </a:r>
            <a:r>
              <a:rPr lang="en-US" sz="38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3800" b="0" i="0" u="none" strike="noStrike" dirty="0">
                <a:solidFill>
                  <a:srgbClr val="FFFFFF"/>
                </a:solidFill>
                <a:ea typeface="Hallym Gothic Bold"/>
              </a:rPr>
              <a:t>패권</a:t>
            </a:r>
            <a:r>
              <a:rPr lang="en-US" sz="38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3800" b="0" i="0" u="none" strike="noStrike" dirty="0">
                <a:solidFill>
                  <a:srgbClr val="FFFFFF"/>
                </a:solidFill>
                <a:ea typeface="Hallym Gothic Bold"/>
              </a:rPr>
              <a:t>경쟁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F73F01E7-7D3C-56D7-5691-2ABE90115236}"/>
              </a:ext>
            </a:extLst>
          </p:cNvPr>
          <p:cNvSpPr txBox="1"/>
          <p:nvPr/>
        </p:nvSpPr>
        <p:spPr>
          <a:xfrm>
            <a:off x="4203700" y="914400"/>
            <a:ext cx="98806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4400" b="0" i="0" u="none" strike="noStrike" dirty="0">
                <a:solidFill>
                  <a:srgbClr val="004671"/>
                </a:solidFill>
                <a:latin typeface="프리젠테이션 6 SemiBold" pitchFamily="2" charset="-127"/>
                <a:ea typeface="프리젠테이션 6 SemiBold" pitchFamily="2" charset="-127"/>
              </a:rPr>
              <a:t>4.</a:t>
            </a:r>
            <a:r>
              <a:rPr lang="ko-KR" altLang="en-US" sz="4400" b="0" i="0" u="none" strike="noStrike" dirty="0">
                <a:solidFill>
                  <a:srgbClr val="004671"/>
                </a:solidFill>
                <a:latin typeface="프리젠테이션 6 SemiBold" pitchFamily="2" charset="-127"/>
                <a:ea typeface="프리젠테이션 6 SemiBold" pitchFamily="2" charset="-127"/>
              </a:rPr>
              <a:t> 데이터 활용</a:t>
            </a:r>
            <a:endParaRPr lang="ko-KR" sz="4400" b="0" i="0" u="none" strike="noStrike" dirty="0">
              <a:solidFill>
                <a:srgbClr val="00467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3C0CE7D5-6EE3-9AC3-8C62-58089025F36C}"/>
              </a:ext>
            </a:extLst>
          </p:cNvPr>
          <p:cNvSpPr txBox="1"/>
          <p:nvPr/>
        </p:nvSpPr>
        <p:spPr>
          <a:xfrm>
            <a:off x="2387600" y="1968500"/>
            <a:ext cx="135128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800" b="0" i="0" u="none" strike="noStrike" dirty="0">
                <a:solidFill>
                  <a:srgbClr val="004671"/>
                </a:solidFill>
                <a:latin typeface="프리젠테이션 6 SemiBold" pitchFamily="2" charset="-127"/>
                <a:ea typeface="프리젠테이션 6 SemiBold" pitchFamily="2" charset="-127"/>
              </a:rPr>
              <a:t>3.</a:t>
            </a:r>
            <a:r>
              <a:rPr lang="ko-KR" altLang="en-US" sz="2800" b="0" i="0" u="none" strike="noStrike" dirty="0">
                <a:solidFill>
                  <a:srgbClr val="004671"/>
                </a:solidFill>
                <a:latin typeface="프리젠테이션 6 SemiBold" pitchFamily="2" charset="-127"/>
                <a:ea typeface="프리젠테이션 6 SemiBold" pitchFamily="2" charset="-127"/>
              </a:rPr>
              <a:t> 연령별</a:t>
            </a:r>
            <a:r>
              <a:rPr lang="en-US" altLang="ko-KR" sz="2800" b="0" i="0" u="none" strike="noStrike" dirty="0">
                <a:solidFill>
                  <a:srgbClr val="004671"/>
                </a:solidFill>
                <a:latin typeface="프리젠테이션 6 SemiBold" pitchFamily="2" charset="-127"/>
                <a:ea typeface="프리젠테이션 6 SemiBold" pitchFamily="2" charset="-127"/>
              </a:rPr>
              <a:t>/</a:t>
            </a:r>
            <a:r>
              <a:rPr lang="ko-KR" altLang="en-US" sz="2800" dirty="0" err="1">
                <a:solidFill>
                  <a:srgbClr val="004671"/>
                </a:solidFill>
                <a:latin typeface="프리젠테이션 6 SemiBold" pitchFamily="2" charset="-127"/>
                <a:ea typeface="프리젠테이션 6 SemiBold" pitchFamily="2" charset="-127"/>
              </a:rPr>
              <a:t>자산별</a:t>
            </a:r>
            <a:r>
              <a:rPr lang="ko-KR" altLang="en-US" sz="2800" dirty="0">
                <a:solidFill>
                  <a:srgbClr val="004671"/>
                </a:solidFill>
                <a:latin typeface="프리젠테이션 6 SemiBold" pitchFamily="2" charset="-127"/>
                <a:ea typeface="프리젠테이션 6 SemiBold" pitchFamily="2" charset="-127"/>
              </a:rPr>
              <a:t> 최적화</a:t>
            </a:r>
            <a:endParaRPr lang="en-US" sz="2800" b="0" i="0" u="none" strike="noStrike" dirty="0">
              <a:solidFill>
                <a:srgbClr val="00467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BABF25AA-3355-E788-E786-AD437E193A51}"/>
              </a:ext>
            </a:extLst>
          </p:cNvPr>
          <p:cNvSpPr txBox="1"/>
          <p:nvPr/>
        </p:nvSpPr>
        <p:spPr>
          <a:xfrm>
            <a:off x="7670800" y="3454400"/>
            <a:ext cx="2946400" cy="67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3800" b="0" i="0" u="none" strike="noStrike" dirty="0">
                <a:solidFill>
                  <a:srgbClr val="FFFFFF"/>
                </a:solidFill>
                <a:ea typeface="Hallym Gothic Bold"/>
              </a:rPr>
              <a:t>무역</a:t>
            </a:r>
            <a:r>
              <a:rPr lang="en-US" sz="38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3800" b="0" i="0" u="none" strike="noStrike" dirty="0">
                <a:solidFill>
                  <a:srgbClr val="FFFFFF"/>
                </a:solidFill>
                <a:ea typeface="Hallym Gothic Bold"/>
              </a:rPr>
              <a:t>불균형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C036D0A4-8C9D-E771-53AF-305D9D155581}"/>
              </a:ext>
            </a:extLst>
          </p:cNvPr>
          <p:cNvSpPr txBox="1"/>
          <p:nvPr/>
        </p:nvSpPr>
        <p:spPr>
          <a:xfrm>
            <a:off x="6464300" y="6667500"/>
            <a:ext cx="5359400" cy="736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2000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년대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이후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중국의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경제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부상과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 </a:t>
            </a:r>
          </a:p>
          <a:p>
            <a:pPr lvl="0" algn="ctr">
              <a:lnSpc>
                <a:spcPct val="124499"/>
              </a:lnSpc>
            </a:pP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미국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경제에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미친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영향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ADF9FAED-992B-197E-7412-3EB2D25A5B42}"/>
              </a:ext>
            </a:extLst>
          </p:cNvPr>
          <p:cNvSpPr txBox="1"/>
          <p:nvPr/>
        </p:nvSpPr>
        <p:spPr>
          <a:xfrm>
            <a:off x="1346200" y="5905500"/>
            <a:ext cx="34544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600" b="0" i="0" u="none" strike="noStrike" dirty="0">
                <a:solidFill>
                  <a:srgbClr val="FFFFFF"/>
                </a:solidFill>
                <a:ea typeface="Hallym Gothic Bold"/>
              </a:rPr>
              <a:t>트럼프</a:t>
            </a:r>
            <a:r>
              <a:rPr lang="en-US" sz="26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600" b="0" i="0" u="none" strike="noStrike" dirty="0">
                <a:solidFill>
                  <a:srgbClr val="FFFFFF"/>
                </a:solidFill>
                <a:ea typeface="Hallym Gothic Bold"/>
              </a:rPr>
              <a:t>행정부의</a:t>
            </a:r>
            <a:r>
              <a:rPr lang="en-US" sz="26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600" b="0" i="0" u="none" strike="noStrike" dirty="0">
                <a:solidFill>
                  <a:srgbClr val="FFFFFF"/>
                </a:solidFill>
                <a:ea typeface="Hallym Gothic Bold"/>
              </a:rPr>
              <a:t>등장과</a:t>
            </a:r>
            <a:r>
              <a:rPr lang="en-US" sz="26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600" b="0" i="0" u="none" strike="noStrike" dirty="0">
                <a:solidFill>
                  <a:srgbClr val="FFFFFF"/>
                </a:solidFill>
                <a:ea typeface="Hallym Gothic Bold"/>
              </a:rPr>
              <a:t>보호무역주의</a:t>
            </a:r>
            <a:r>
              <a:rPr lang="en-US" sz="26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600" b="0" i="0" u="none" strike="noStrike" dirty="0">
                <a:solidFill>
                  <a:srgbClr val="FFFFFF"/>
                </a:solidFill>
                <a:ea typeface="Hallym Gothic Bold"/>
              </a:rPr>
              <a:t>강화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F167D611-38CF-62EA-AE51-C94FE0E86176}"/>
              </a:ext>
            </a:extLst>
          </p:cNvPr>
          <p:cNvSpPr txBox="1"/>
          <p:nvPr/>
        </p:nvSpPr>
        <p:spPr>
          <a:xfrm>
            <a:off x="13754100" y="5842000"/>
            <a:ext cx="3149600" cy="965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900" b="0" i="0" u="none" strike="noStrike" dirty="0">
                <a:solidFill>
                  <a:srgbClr val="FFFFFF"/>
                </a:solidFill>
                <a:ea typeface="Hallym Gothic Bold"/>
              </a:rPr>
              <a:t>중국의</a:t>
            </a:r>
            <a:r>
              <a:rPr lang="en-US" sz="29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900" b="0" i="0" u="none" strike="noStrike" dirty="0">
                <a:solidFill>
                  <a:srgbClr val="FFFFFF"/>
                </a:solidFill>
                <a:ea typeface="Hallym Gothic Bold"/>
              </a:rPr>
              <a:t>산업</a:t>
            </a:r>
            <a:r>
              <a:rPr lang="en-US" sz="29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900" b="0" i="0" u="none" strike="noStrike" dirty="0">
                <a:solidFill>
                  <a:srgbClr val="FFFFFF"/>
                </a:solidFill>
                <a:ea typeface="Hallym Gothic Bold"/>
              </a:rPr>
              <a:t>정책과</a:t>
            </a:r>
            <a:r>
              <a:rPr lang="en-US" sz="29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900" b="0" i="0" u="none" strike="noStrike" dirty="0">
                <a:solidFill>
                  <a:srgbClr val="FFFFFF"/>
                </a:solidFill>
                <a:ea typeface="Hallym Gothic Bold"/>
              </a:rPr>
              <a:t>불공정</a:t>
            </a:r>
            <a:r>
              <a:rPr lang="en-US" sz="29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900" b="0" i="0" u="none" strike="noStrike" dirty="0">
                <a:solidFill>
                  <a:srgbClr val="FFFFFF"/>
                </a:solidFill>
                <a:ea typeface="Hallym Gothic Bold"/>
              </a:rPr>
              <a:t>경쟁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7785CFA-5F3D-DB2C-4F9C-0FAD92D4F18B}"/>
              </a:ext>
            </a:extLst>
          </p:cNvPr>
          <p:cNvSpPr txBox="1"/>
          <p:nvPr/>
        </p:nvSpPr>
        <p:spPr>
          <a:xfrm>
            <a:off x="2023311" y="3208970"/>
            <a:ext cx="14249400" cy="4355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3600" dirty="0">
                <a:latin typeface="프리젠테이션 6 SemiBold" pitchFamily="2" charset="-127"/>
                <a:ea typeface="프리젠테이션 6 SemiBold" pitchFamily="2" charset="-127"/>
              </a:rPr>
              <a:t>-</a:t>
            </a:r>
            <a:r>
              <a:rPr lang="ko-KR" altLang="en-US" sz="3600" dirty="0">
                <a:latin typeface="프리젠테이션 6 SemiBold" pitchFamily="2" charset="-127"/>
                <a:ea typeface="프리젠테이션 6 SemiBold" pitchFamily="2" charset="-127"/>
              </a:rPr>
              <a:t> 고객보유정보</a:t>
            </a:r>
            <a:r>
              <a:rPr lang="en-US" altLang="ko-KR" sz="3600" dirty="0">
                <a:latin typeface="프리젠테이션 6 SemiBold" pitchFamily="2" charset="-127"/>
                <a:ea typeface="프리젠테이션 6 SemiBold" pitchFamily="2" charset="-127"/>
              </a:rPr>
              <a:t>data</a:t>
            </a:r>
            <a:r>
              <a:rPr lang="ko-KR" altLang="en-US" sz="3600" dirty="0">
                <a:latin typeface="프리젠테이션 6 SemiBold" pitchFamily="2" charset="-127"/>
                <a:ea typeface="프리젠테이션 6 SemiBold" pitchFamily="2" charset="-127"/>
              </a:rPr>
              <a:t>에서 고객 중분류</a:t>
            </a:r>
            <a:r>
              <a:rPr lang="en-US" altLang="ko-KR" sz="3600" dirty="0">
                <a:latin typeface="프리젠테이션 6 SemiBold" pitchFamily="2" charset="-127"/>
                <a:ea typeface="프리젠테이션 6 SemiBold" pitchFamily="2" charset="-127"/>
              </a:rPr>
              <a:t>,</a:t>
            </a:r>
            <a:r>
              <a:rPr lang="ko-KR" altLang="en-US" sz="3600" dirty="0"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en-US" sz="3600" dirty="0" err="1">
                <a:latin typeface="프리젠테이션 6 SemiBold" pitchFamily="2" charset="-127"/>
                <a:ea typeface="프리젠테이션 6 SemiBold" pitchFamily="2" charset="-127"/>
              </a:rPr>
              <a:t>고객구성계좌수비율</a:t>
            </a:r>
            <a:r>
              <a:rPr lang="en-US" altLang="ko-KR" sz="3600" dirty="0">
                <a:latin typeface="프리젠테이션 6 SemiBold" pitchFamily="2" charset="-127"/>
                <a:ea typeface="프리젠테이션 6 SemiBold" pitchFamily="2" charset="-127"/>
              </a:rPr>
              <a:t>,</a:t>
            </a:r>
            <a:r>
              <a:rPr lang="ko-KR" altLang="en-US" sz="3600" dirty="0"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en-US" sz="3600" dirty="0" err="1">
                <a:latin typeface="프리젠테이션 6 SemiBold" pitchFamily="2" charset="-127"/>
                <a:ea typeface="프리젠테이션 6 SemiBold" pitchFamily="2" charset="-127"/>
              </a:rPr>
              <a:t>고객구성투자비율정보</a:t>
            </a:r>
            <a:r>
              <a:rPr lang="ko-KR" altLang="en-US" sz="3600" dirty="0">
                <a:latin typeface="프리젠테이션 6 SemiBold" pitchFamily="2" charset="-127"/>
                <a:ea typeface="프리젠테이션 6 SemiBold" pitchFamily="2" charset="-127"/>
              </a:rPr>
              <a:t> 이용</a:t>
            </a:r>
            <a:endParaRPr lang="en-US" altLang="ko-KR" sz="3600" dirty="0">
              <a:latin typeface="프리젠테이션 6 SemiBold" pitchFamily="2" charset="-127"/>
              <a:ea typeface="프리젠테이션 6 SemiBold" pitchFamily="2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3600" dirty="0"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연령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/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자산을 입력하면 고객 중분류를 반환하는 함수 제작</a:t>
            </a:r>
            <a:endParaRPr lang="en-US" altLang="ko-KR" sz="36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 고객 중분류 별 구성계좌수비율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,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 구성투자비율 평균값 도출</a:t>
            </a:r>
            <a:endParaRPr lang="en-US" altLang="ko-KR" sz="36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perplexity</a:t>
            </a:r>
            <a:r>
              <a:rPr lang="ko-KR" altLang="en-US" sz="3600" dirty="0" err="1">
                <a:latin typeface="프리젠테이션 4 Regular" pitchFamily="2" charset="-127"/>
                <a:ea typeface="프리젠테이션 4 Regular" pitchFamily="2" charset="-127"/>
              </a:rPr>
              <a:t>를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 통해 위의 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data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로부터 고객별 선호도 분석</a:t>
            </a:r>
            <a:endParaRPr lang="en-US" altLang="ko-KR" sz="36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40366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8000"/>
          </a:blip>
          <a:stretch>
            <a:fillRect/>
          </a:stretch>
        </p:blipFill>
        <p:spPr>
          <a:xfrm>
            <a:off x="-209550" y="-381000"/>
            <a:ext cx="18478500" cy="10744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5700" y="546100"/>
            <a:ext cx="723900" cy="63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alphaModFix amt="14000"/>
          </a:blip>
          <a:stretch>
            <a:fillRect/>
          </a:stretch>
        </p:blipFill>
        <p:spPr>
          <a:xfrm>
            <a:off x="2019300" y="1968500"/>
            <a:ext cx="14249400" cy="8255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143500" y="889000"/>
            <a:ext cx="79883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6000" b="0" i="0" u="none" strike="noStrike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</a:rPr>
              <a:t>5. </a:t>
            </a:r>
            <a:r>
              <a:rPr lang="ko-KR" altLang="en-US" sz="6000" b="0" i="0" u="none" strike="noStrike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</a:rPr>
              <a:t>사용한 </a:t>
            </a:r>
            <a:r>
              <a:rPr lang="en-US" altLang="ko-KR" sz="6000" b="0" i="0" u="none" strike="noStrike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</a:rPr>
              <a:t>LLM </a:t>
            </a:r>
            <a:r>
              <a:rPr lang="ko-KR" altLang="en-US" sz="6000" b="0" i="0" u="none" strike="noStrike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</a:rPr>
              <a:t>기술</a:t>
            </a:r>
            <a:endParaRPr lang="ko-KR" sz="6000" b="0" i="0" u="none" strike="noStrike" dirty="0">
              <a:solidFill>
                <a:srgbClr val="FFFFFF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349500" y="1981200"/>
            <a:ext cx="14300200" cy="762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4000" b="1" i="0" u="none" strike="noStrike" spc="-200" dirty="0">
                <a:solidFill>
                  <a:srgbClr val="FFFFFF"/>
                </a:solidFill>
                <a:latin typeface="프리젠테이션 6 SemiBold" pitchFamily="2" charset="-127"/>
                <a:ea typeface="프리젠테이션 6 SemiBold" pitchFamily="2" charset="-127"/>
              </a:rPr>
              <a:t>1. Prompt Engineering </a:t>
            </a:r>
            <a:endParaRPr lang="en-US" sz="4000" b="1" i="0" u="none" strike="noStrike" spc="-200" dirty="0">
              <a:solidFill>
                <a:srgbClr val="FFFFFF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BD058F1-C7F5-4A5D-E915-B9B8C6D3215F}"/>
              </a:ext>
            </a:extLst>
          </p:cNvPr>
          <p:cNvSpPr txBox="1"/>
          <p:nvPr/>
        </p:nvSpPr>
        <p:spPr>
          <a:xfrm>
            <a:off x="1460500" y="3175000"/>
            <a:ext cx="1607820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36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-Prompt Template</a:t>
            </a:r>
          </a:p>
          <a:p>
            <a:pPr>
              <a:lnSpc>
                <a:spcPct val="200000"/>
              </a:lnSpc>
            </a:pPr>
            <a:r>
              <a:rPr lang="ko-KR" altLang="en-US" sz="36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반복적인 코드 작성을 줄이고</a:t>
            </a:r>
            <a:r>
              <a:rPr lang="en-US" altLang="ko-KR" sz="36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36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프롬프트 재사용성을 극대화하여 작업 효율성을 개선</a:t>
            </a:r>
            <a:endParaRPr lang="en-US" altLang="ko-KR" sz="3600" dirty="0">
              <a:solidFill>
                <a:schemeClr val="bg1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36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-One/Few Shot Prompting</a:t>
            </a:r>
          </a:p>
          <a:p>
            <a:pPr>
              <a:lnSpc>
                <a:spcPct val="200000"/>
              </a:lnSpc>
            </a:pPr>
            <a:r>
              <a:rPr lang="ko-KR" altLang="en-US" sz="36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예시를 포함해 답안 형식을 지정</a:t>
            </a:r>
            <a:r>
              <a:rPr lang="en-US" altLang="ko-KR" sz="36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36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일관성과 품질을 강화</a:t>
            </a:r>
            <a:endParaRPr lang="en-US" altLang="ko-KR" sz="3600" dirty="0">
              <a:solidFill>
                <a:schemeClr val="bg1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36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-Output Parser</a:t>
            </a:r>
          </a:p>
          <a:p>
            <a:pPr>
              <a:lnSpc>
                <a:spcPct val="200000"/>
              </a:lnSpc>
            </a:pPr>
            <a:r>
              <a:rPr lang="ko-KR" altLang="en-US" sz="36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문자열 데이터를 </a:t>
            </a:r>
            <a:r>
              <a:rPr lang="en-US" altLang="ko-KR" sz="36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`list`, `JSON` </a:t>
            </a:r>
            <a:r>
              <a:rPr lang="ko-KR" altLang="en-US" sz="36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등으로 변환해 데이터 가공과 문서 작성에 활용</a:t>
            </a:r>
            <a:endParaRPr lang="en-US" altLang="ko-KR" sz="3600" dirty="0">
              <a:solidFill>
                <a:schemeClr val="bg1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endParaRPr lang="en-US" altLang="ko-KR" sz="3600" dirty="0">
              <a:solidFill>
                <a:schemeClr val="bg1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0DE8EC-DE1B-4C84-0457-B60E0B322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48D0316-CDA2-C306-74CB-7F1CF6CF2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56B21FB2-6777-F799-77D8-27989C8315E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8000"/>
          </a:blip>
          <a:stretch>
            <a:fillRect/>
          </a:stretch>
        </p:blipFill>
        <p:spPr>
          <a:xfrm>
            <a:off x="-209550" y="-381000"/>
            <a:ext cx="18478500" cy="107442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89B5CF4C-94BD-BBE8-58A4-ABB67643F6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5700" y="546100"/>
            <a:ext cx="723900" cy="635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6EB38E64-A41B-32C0-56B8-0B1D1FFEE60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4000"/>
          </a:blip>
          <a:stretch>
            <a:fillRect/>
          </a:stretch>
        </p:blipFill>
        <p:spPr>
          <a:xfrm>
            <a:off x="2019300" y="1968500"/>
            <a:ext cx="14249400" cy="8255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AE6FD491-621F-9996-20F5-A982344C8A1D}"/>
              </a:ext>
            </a:extLst>
          </p:cNvPr>
          <p:cNvSpPr txBox="1"/>
          <p:nvPr/>
        </p:nvSpPr>
        <p:spPr>
          <a:xfrm>
            <a:off x="5143500" y="889000"/>
            <a:ext cx="79883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6000" b="0" i="0" u="none" strike="noStrike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</a:rPr>
              <a:t>5. </a:t>
            </a:r>
            <a:r>
              <a:rPr lang="ko-KR" altLang="en-US" sz="6000" b="0" i="0" u="none" strike="noStrike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</a:rPr>
              <a:t>사용한 </a:t>
            </a:r>
            <a:r>
              <a:rPr lang="en-US" altLang="ko-KR" sz="6000" b="0" i="0" u="none" strike="noStrike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</a:rPr>
              <a:t>LLM </a:t>
            </a:r>
            <a:r>
              <a:rPr lang="ko-KR" altLang="en-US" sz="6000" b="0" i="0" u="none" strike="noStrike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</a:rPr>
              <a:t>기술</a:t>
            </a:r>
            <a:endParaRPr lang="ko-KR" sz="6000" b="0" i="0" u="none" strike="noStrike" dirty="0">
              <a:solidFill>
                <a:srgbClr val="FFFFFF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CABAD0C-9CFB-0866-B252-C9DE7DEE995D}"/>
              </a:ext>
            </a:extLst>
          </p:cNvPr>
          <p:cNvSpPr txBox="1"/>
          <p:nvPr/>
        </p:nvSpPr>
        <p:spPr>
          <a:xfrm>
            <a:off x="2349500" y="1981200"/>
            <a:ext cx="14300200" cy="762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4000" b="1" i="0" u="none" strike="noStrike" spc="-200" dirty="0">
                <a:solidFill>
                  <a:srgbClr val="FFFFFF"/>
                </a:solidFill>
                <a:latin typeface="프리젠테이션 6 SemiBold" pitchFamily="2" charset="-127"/>
                <a:ea typeface="프리젠테이션 6 SemiBold" pitchFamily="2" charset="-127"/>
              </a:rPr>
              <a:t>2. LLM Modeling </a:t>
            </a:r>
            <a:endParaRPr lang="en-US" sz="4000" b="1" i="0" u="none" strike="noStrike" spc="-200" dirty="0">
              <a:solidFill>
                <a:srgbClr val="FFFFFF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FBC0C47-A9EA-3A83-ADC8-CE154F5C54C8}"/>
              </a:ext>
            </a:extLst>
          </p:cNvPr>
          <p:cNvSpPr txBox="1"/>
          <p:nvPr/>
        </p:nvSpPr>
        <p:spPr>
          <a:xfrm>
            <a:off x="1460500" y="3175000"/>
            <a:ext cx="1607820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6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-Perplexity</a:t>
            </a:r>
          </a:p>
          <a:p>
            <a:pPr>
              <a:lnSpc>
                <a:spcPct val="150000"/>
              </a:lnSpc>
            </a:pPr>
            <a:r>
              <a:rPr lang="ko-KR" altLang="en-US" sz="36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정보 검색 및 분석에 특화됨</a:t>
            </a:r>
            <a:endParaRPr lang="en-US" altLang="ko-KR" sz="3600" dirty="0">
              <a:solidFill>
                <a:schemeClr val="bg1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36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외부 데이터 </a:t>
            </a:r>
            <a:r>
              <a:rPr lang="ko-KR" altLang="en-US" sz="3600" dirty="0" err="1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서칭이나</a:t>
            </a:r>
            <a:r>
              <a:rPr lang="ko-KR" altLang="en-US" sz="36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 데이터프레임 분석이 필요한 작업에 사용</a:t>
            </a:r>
          </a:p>
          <a:p>
            <a:pPr>
              <a:lnSpc>
                <a:spcPct val="150000"/>
              </a:lnSpc>
            </a:pPr>
            <a:endParaRPr lang="en-US" altLang="ko-KR" sz="3600" dirty="0">
              <a:solidFill>
                <a:schemeClr val="bg1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36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-Azure OpenAI</a:t>
            </a:r>
          </a:p>
          <a:p>
            <a:pPr>
              <a:lnSpc>
                <a:spcPct val="150000"/>
              </a:lnSpc>
            </a:pPr>
            <a:r>
              <a:rPr lang="ko-KR" altLang="en-US" sz="36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사용자 친화적인 응답 제공</a:t>
            </a:r>
            <a:endParaRPr lang="en-US" altLang="ko-KR" sz="3600" dirty="0">
              <a:solidFill>
                <a:schemeClr val="bg1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36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최종 보고서 작성 및 텍스트 정보 분석에 사용</a:t>
            </a:r>
          </a:p>
          <a:p>
            <a:pPr>
              <a:lnSpc>
                <a:spcPct val="150000"/>
              </a:lnSpc>
            </a:pPr>
            <a:r>
              <a:rPr lang="ko-KR" altLang="en-US" sz="36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비용 절감을 위해 </a:t>
            </a:r>
            <a:r>
              <a:rPr lang="en-US" altLang="ko-KR" sz="36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GPT-4o mini</a:t>
            </a:r>
            <a:r>
              <a:rPr lang="ko-KR" altLang="en-US" sz="36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를 활용</a:t>
            </a:r>
          </a:p>
          <a:p>
            <a:endParaRPr lang="en-US" altLang="ko-KR" sz="3600" dirty="0">
              <a:solidFill>
                <a:schemeClr val="bg1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6869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37D178-8F13-97DA-B3B6-5112BE4DD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C755A6A-7E34-57A5-4CEF-43FCF1EC8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84C2FC4-524A-8A13-222F-57E2FE0F1E9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8000"/>
          </a:blip>
          <a:stretch>
            <a:fillRect/>
          </a:stretch>
        </p:blipFill>
        <p:spPr>
          <a:xfrm>
            <a:off x="-137368" y="-383583"/>
            <a:ext cx="18478500" cy="107442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21E22DE4-BA46-3D58-F7D1-21BFA095F3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5700" y="546100"/>
            <a:ext cx="723900" cy="635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F58459F5-E0E7-7BDE-5761-77BFF6E13E30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4000"/>
          </a:blip>
          <a:stretch>
            <a:fillRect/>
          </a:stretch>
        </p:blipFill>
        <p:spPr>
          <a:xfrm>
            <a:off x="2019300" y="1968500"/>
            <a:ext cx="14249400" cy="8255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258DAA51-9D33-C31F-6B34-FADDF4C945D0}"/>
              </a:ext>
            </a:extLst>
          </p:cNvPr>
          <p:cNvSpPr txBox="1"/>
          <p:nvPr/>
        </p:nvSpPr>
        <p:spPr>
          <a:xfrm>
            <a:off x="5143500" y="889000"/>
            <a:ext cx="79883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6000" b="0" i="0" u="none" strike="noStrike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</a:rPr>
              <a:t>5. </a:t>
            </a:r>
            <a:r>
              <a:rPr lang="ko-KR" altLang="en-US" sz="6000" b="0" i="0" u="none" strike="noStrike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</a:rPr>
              <a:t>사용한 </a:t>
            </a:r>
            <a:r>
              <a:rPr lang="en-US" altLang="ko-KR" sz="6000" b="0" i="0" u="none" strike="noStrike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</a:rPr>
              <a:t>LLM </a:t>
            </a:r>
            <a:r>
              <a:rPr lang="ko-KR" altLang="en-US" sz="6000" b="0" i="0" u="none" strike="noStrike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</a:rPr>
              <a:t>기술</a:t>
            </a:r>
            <a:endParaRPr lang="ko-KR" sz="6000" b="0" i="0" u="none" strike="noStrike" dirty="0">
              <a:solidFill>
                <a:srgbClr val="FFFFFF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ADE6E70-7D1D-60BD-37C8-6FAA44B596F1}"/>
              </a:ext>
            </a:extLst>
          </p:cNvPr>
          <p:cNvSpPr txBox="1"/>
          <p:nvPr/>
        </p:nvSpPr>
        <p:spPr>
          <a:xfrm>
            <a:off x="2349500" y="1981200"/>
            <a:ext cx="14300200" cy="762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4000" b="1" i="0" u="none" strike="noStrike" spc="-200" dirty="0">
                <a:solidFill>
                  <a:srgbClr val="FFFFFF"/>
                </a:solidFill>
                <a:latin typeface="프리젠테이션 6 SemiBold" pitchFamily="2" charset="-127"/>
                <a:ea typeface="프리젠테이션 6 SemiBold" pitchFamily="2" charset="-127"/>
              </a:rPr>
              <a:t>2. LLM Modeling </a:t>
            </a:r>
            <a:endParaRPr lang="en-US" sz="4000" b="1" i="0" u="none" strike="noStrike" spc="-200" dirty="0">
              <a:solidFill>
                <a:srgbClr val="FFFFFF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C028F70-581B-0438-B6EE-174870393EC1}"/>
              </a:ext>
            </a:extLst>
          </p:cNvPr>
          <p:cNvSpPr/>
          <p:nvPr/>
        </p:nvSpPr>
        <p:spPr>
          <a:xfrm>
            <a:off x="5520482" y="3568700"/>
            <a:ext cx="3581400" cy="2280835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E9713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</a:rPr>
              <a:t>Data</a:t>
            </a:r>
            <a:r>
              <a:rPr kumimoji="0" lang="ko-KR" alt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kumimoji="0" lang="en-US" altLang="ko-KR" sz="3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</a:rPr>
              <a:t>frame</a:t>
            </a:r>
            <a:endParaRPr kumimoji="0" lang="ko-KR" altLang="en-US" sz="3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D67BF2A-A62B-5386-305A-EDF08A604157}"/>
              </a:ext>
            </a:extLst>
          </p:cNvPr>
          <p:cNvSpPr/>
          <p:nvPr/>
        </p:nvSpPr>
        <p:spPr>
          <a:xfrm>
            <a:off x="12064505" y="3581400"/>
            <a:ext cx="3581400" cy="2280834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E9713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</a:rPr>
              <a:t>Perplexity</a:t>
            </a:r>
            <a:endParaRPr kumimoji="0" lang="ko-KR" altLang="en-US" sz="3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AAC02AC-1A02-C68B-55C2-FAB7DB2C0EB2}"/>
              </a:ext>
            </a:extLst>
          </p:cNvPr>
          <p:cNvSpPr/>
          <p:nvPr/>
        </p:nvSpPr>
        <p:spPr>
          <a:xfrm>
            <a:off x="5544698" y="6565210"/>
            <a:ext cx="3581400" cy="2280836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E9713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</a:rPr>
              <a:t>Azure open ai</a:t>
            </a:r>
            <a:endParaRPr kumimoji="0" lang="ko-KR" altLang="en-US" sz="3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09428C6-B6AD-217C-93AA-79443C416781}"/>
              </a:ext>
            </a:extLst>
          </p:cNvPr>
          <p:cNvSpPr/>
          <p:nvPr/>
        </p:nvSpPr>
        <p:spPr>
          <a:xfrm>
            <a:off x="12064505" y="6565210"/>
            <a:ext cx="3581400" cy="2273945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E9713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</a:rPr>
              <a:t>최종 답변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894000-D9ED-C584-F77D-D31BC36B6C5F}"/>
              </a:ext>
            </a:extLst>
          </p:cNvPr>
          <p:cNvSpPr txBox="1"/>
          <p:nvPr/>
        </p:nvSpPr>
        <p:spPr>
          <a:xfrm>
            <a:off x="9905892" y="4489527"/>
            <a:ext cx="2186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ko-KR" altLang="en-US" sz="24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데이터 분석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0CC9C9AD-324F-D024-47D1-7C5E7392FE26}"/>
              </a:ext>
            </a:extLst>
          </p:cNvPr>
          <p:cNvCxnSpPr>
            <a:cxnSpLocks/>
          </p:cNvCxnSpPr>
          <p:nvPr/>
        </p:nvCxnSpPr>
        <p:spPr>
          <a:xfrm>
            <a:off x="9905892" y="5148537"/>
            <a:ext cx="142247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4281C7C-10A6-322F-3A51-4EE7A587448E}"/>
              </a:ext>
            </a:extLst>
          </p:cNvPr>
          <p:cNvCxnSpPr>
            <a:cxnSpLocks/>
          </p:cNvCxnSpPr>
          <p:nvPr/>
        </p:nvCxnSpPr>
        <p:spPr>
          <a:xfrm>
            <a:off x="3353586" y="7962900"/>
            <a:ext cx="142247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AC6B8C7A-B88F-CFB5-27C0-BBE5336DB20C}"/>
              </a:ext>
            </a:extLst>
          </p:cNvPr>
          <p:cNvCxnSpPr>
            <a:cxnSpLocks/>
          </p:cNvCxnSpPr>
          <p:nvPr/>
        </p:nvCxnSpPr>
        <p:spPr>
          <a:xfrm>
            <a:off x="10069564" y="7962900"/>
            <a:ext cx="142247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8FDE953-1BAA-6ED2-12E1-591A14F6D9AC}"/>
              </a:ext>
            </a:extLst>
          </p:cNvPr>
          <p:cNvSpPr txBox="1"/>
          <p:nvPr/>
        </p:nvSpPr>
        <p:spPr>
          <a:xfrm>
            <a:off x="2019300" y="6871185"/>
            <a:ext cx="40910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24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분석 결과</a:t>
            </a:r>
            <a:endParaRPr lang="en-US" altLang="ko-KR" sz="2400" dirty="0">
              <a:solidFill>
                <a:schemeClr val="bg1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algn="ctr" latinLnBrk="1"/>
            <a:r>
              <a:rPr lang="en-US" altLang="ko-KR" sz="24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ko-KR" altLang="en-US" sz="24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텍스트</a:t>
            </a:r>
            <a:r>
              <a:rPr lang="en-US" altLang="ko-KR" sz="24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)</a:t>
            </a:r>
            <a:r>
              <a:rPr lang="ko-KR" altLang="en-US" sz="24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제공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1E059E-0CB8-1B58-366D-E087521F975E}"/>
              </a:ext>
            </a:extLst>
          </p:cNvPr>
          <p:cNvSpPr txBox="1"/>
          <p:nvPr/>
        </p:nvSpPr>
        <p:spPr>
          <a:xfrm>
            <a:off x="6187690" y="6871185"/>
            <a:ext cx="90784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24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분석결과 이용</a:t>
            </a:r>
            <a:endParaRPr lang="en-US" altLang="ko-KR" sz="2400" dirty="0">
              <a:solidFill>
                <a:schemeClr val="bg1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algn="ctr" latinLnBrk="1"/>
            <a:r>
              <a:rPr lang="ko-KR" altLang="en-US" sz="24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 최종 답변 생성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6FF095-8A1B-728C-2FBD-0B0613D81E1B}"/>
              </a:ext>
            </a:extLst>
          </p:cNvPr>
          <p:cNvSpPr txBox="1"/>
          <p:nvPr/>
        </p:nvSpPr>
        <p:spPr>
          <a:xfrm>
            <a:off x="3012451" y="4472663"/>
            <a:ext cx="2310905" cy="472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</a:rPr>
              <a:t>제공된 데이터 가공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프리젠테이션 4 Regular" pitchFamily="2" charset="-127"/>
              <a:ea typeface="프리젠테이션 4 Regular" pitchFamily="2" charset="-127"/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D5DD1A4E-CA87-46AA-B533-BE91F98C98BC}"/>
              </a:ext>
            </a:extLst>
          </p:cNvPr>
          <p:cNvCxnSpPr>
            <a:cxnSpLocks/>
          </p:cNvCxnSpPr>
          <p:nvPr/>
        </p:nvCxnSpPr>
        <p:spPr>
          <a:xfrm>
            <a:off x="3376209" y="5143500"/>
            <a:ext cx="142247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5100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700" y="546100"/>
            <a:ext cx="723900" cy="63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2019300" y="1943100"/>
            <a:ext cx="14249400" cy="7366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7480300" y="8585200"/>
            <a:ext cx="3378200" cy="67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3800" b="0" i="0" u="none" strike="noStrike" dirty="0">
                <a:solidFill>
                  <a:srgbClr val="FFFFFF"/>
                </a:solidFill>
                <a:ea typeface="Hallym Gothic Bold"/>
              </a:rPr>
              <a:t>기술</a:t>
            </a:r>
            <a:r>
              <a:rPr lang="en-US" sz="38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3800" b="0" i="0" u="none" strike="noStrike" dirty="0">
                <a:solidFill>
                  <a:srgbClr val="FFFFFF"/>
                </a:solidFill>
                <a:ea typeface="Hallym Gothic Bold"/>
              </a:rPr>
              <a:t>패권</a:t>
            </a:r>
            <a:r>
              <a:rPr lang="en-US" sz="38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3800" b="0" i="0" u="none" strike="noStrike" dirty="0">
                <a:solidFill>
                  <a:srgbClr val="FFFFFF"/>
                </a:solidFill>
                <a:ea typeface="Hallym Gothic Bold"/>
              </a:rPr>
              <a:t>경쟁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203700" y="914400"/>
            <a:ext cx="98806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4400" b="0" i="0" u="none" strike="noStrike" dirty="0">
                <a:solidFill>
                  <a:srgbClr val="004671"/>
                </a:solidFill>
                <a:latin typeface="프리젠테이션 6 SemiBold" pitchFamily="2" charset="-127"/>
                <a:ea typeface="프리젠테이션 6 SemiBold" pitchFamily="2" charset="-127"/>
              </a:rPr>
              <a:t>6. </a:t>
            </a:r>
            <a:r>
              <a:rPr lang="ko-KR" altLang="en-US" sz="4400" b="0" i="0" u="none" strike="noStrike" dirty="0">
                <a:solidFill>
                  <a:srgbClr val="004671"/>
                </a:solidFill>
                <a:latin typeface="프리젠테이션 6 SemiBold" pitchFamily="2" charset="-127"/>
                <a:ea typeface="프리젠테이션 6 SemiBold" pitchFamily="2" charset="-127"/>
              </a:rPr>
              <a:t>서비스의 확장성</a:t>
            </a:r>
            <a:endParaRPr lang="ko-KR" sz="4400" b="0" i="0" u="none" strike="noStrike" dirty="0">
              <a:solidFill>
                <a:srgbClr val="00467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2387600" y="1968500"/>
            <a:ext cx="135128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800" b="0" i="0" u="none" strike="noStrike" dirty="0">
                <a:solidFill>
                  <a:srgbClr val="004671"/>
                </a:solidFill>
                <a:latin typeface="프리젠테이션 6 SemiBold" pitchFamily="2" charset="-127"/>
                <a:ea typeface="프리젠테이션 6 SemiBold" pitchFamily="2" charset="-127"/>
              </a:rPr>
              <a:t>1. </a:t>
            </a:r>
            <a:r>
              <a:rPr lang="ko-KR" altLang="en-US" sz="2800" b="0" i="0" u="none" strike="noStrike" dirty="0">
                <a:solidFill>
                  <a:srgbClr val="004671"/>
                </a:solidFill>
                <a:latin typeface="프리젠테이션 6 SemiBold" pitchFamily="2" charset="-127"/>
                <a:ea typeface="프리젠테이션 6 SemiBold" pitchFamily="2" charset="-127"/>
              </a:rPr>
              <a:t>한계 </a:t>
            </a:r>
            <a:r>
              <a:rPr lang="en-US" altLang="ko-KR" sz="2800" b="0" i="0" u="none" strike="noStrike" dirty="0">
                <a:solidFill>
                  <a:srgbClr val="004671"/>
                </a:solidFill>
                <a:latin typeface="프리젠테이션 6 SemiBold" pitchFamily="2" charset="-127"/>
                <a:ea typeface="프리젠테이션 6 SemiBold" pitchFamily="2" charset="-127"/>
              </a:rPr>
              <a:t>&amp; </a:t>
            </a:r>
            <a:r>
              <a:rPr lang="ko-KR" altLang="en-US" sz="2800" b="0" i="0" u="none" strike="noStrike" dirty="0">
                <a:solidFill>
                  <a:srgbClr val="004671"/>
                </a:solidFill>
                <a:latin typeface="프리젠테이션 6 SemiBold" pitchFamily="2" charset="-127"/>
                <a:ea typeface="프리젠테이션 6 SemiBold" pitchFamily="2" charset="-127"/>
              </a:rPr>
              <a:t>해결 방안</a:t>
            </a:r>
            <a:endParaRPr lang="en-US" sz="2800" b="0" i="0" u="none" strike="noStrike" dirty="0">
              <a:solidFill>
                <a:srgbClr val="00467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7670800" y="3454400"/>
            <a:ext cx="2946400" cy="67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3800" b="0" i="0" u="none" strike="noStrike" dirty="0">
                <a:solidFill>
                  <a:srgbClr val="FFFFFF"/>
                </a:solidFill>
                <a:ea typeface="Hallym Gothic Bold"/>
              </a:rPr>
              <a:t>무역</a:t>
            </a:r>
            <a:r>
              <a:rPr lang="en-US" sz="38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3800" b="0" i="0" u="none" strike="noStrike" dirty="0">
                <a:solidFill>
                  <a:srgbClr val="FFFFFF"/>
                </a:solidFill>
                <a:ea typeface="Hallym Gothic Bold"/>
              </a:rPr>
              <a:t>불균형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464300" y="6667500"/>
            <a:ext cx="5359400" cy="736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2000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년대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이후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중국의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경제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부상과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 </a:t>
            </a:r>
          </a:p>
          <a:p>
            <a:pPr lvl="0" algn="ctr">
              <a:lnSpc>
                <a:spcPct val="124499"/>
              </a:lnSpc>
            </a:pP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미국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경제에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미친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영향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46200" y="5905500"/>
            <a:ext cx="34544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600" b="0" i="0" u="none" strike="noStrike">
                <a:solidFill>
                  <a:srgbClr val="FFFFFF"/>
                </a:solidFill>
                <a:ea typeface="Hallym Gothic Bold"/>
              </a:rPr>
              <a:t>트럼프</a:t>
            </a:r>
            <a:r>
              <a:rPr lang="en-US" sz="2600" b="0" i="0" u="none" strike="noStrike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600" b="0" i="0" u="none" strike="noStrike">
                <a:solidFill>
                  <a:srgbClr val="FFFFFF"/>
                </a:solidFill>
                <a:ea typeface="Hallym Gothic Bold"/>
              </a:rPr>
              <a:t>행정부의</a:t>
            </a:r>
            <a:r>
              <a:rPr lang="en-US" sz="2600" b="0" i="0" u="none" strike="noStrike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600" b="0" i="0" u="none" strike="noStrike">
                <a:solidFill>
                  <a:srgbClr val="FFFFFF"/>
                </a:solidFill>
                <a:ea typeface="Hallym Gothic Bold"/>
              </a:rPr>
              <a:t>등장과</a:t>
            </a:r>
            <a:r>
              <a:rPr lang="en-US" sz="2600" b="0" i="0" u="none" strike="noStrike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600" b="0" i="0" u="none" strike="noStrike">
                <a:solidFill>
                  <a:srgbClr val="FFFFFF"/>
                </a:solidFill>
                <a:ea typeface="Hallym Gothic Bold"/>
              </a:rPr>
              <a:t>보호무역주의</a:t>
            </a:r>
            <a:r>
              <a:rPr lang="en-US" sz="2600" b="0" i="0" u="none" strike="noStrike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600" b="0" i="0" u="none" strike="noStrike">
                <a:solidFill>
                  <a:srgbClr val="FFFFFF"/>
                </a:solidFill>
                <a:ea typeface="Hallym Gothic Bold"/>
              </a:rPr>
              <a:t>강화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754100" y="5842000"/>
            <a:ext cx="3149600" cy="965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900" b="0" i="0" u="none" strike="noStrike" dirty="0">
                <a:solidFill>
                  <a:srgbClr val="FFFFFF"/>
                </a:solidFill>
                <a:ea typeface="Hallym Gothic Bold"/>
              </a:rPr>
              <a:t>중국의</a:t>
            </a:r>
            <a:r>
              <a:rPr lang="en-US" sz="29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900" b="0" i="0" u="none" strike="noStrike" dirty="0">
                <a:solidFill>
                  <a:srgbClr val="FFFFFF"/>
                </a:solidFill>
                <a:ea typeface="Hallym Gothic Bold"/>
              </a:rPr>
              <a:t>산업</a:t>
            </a:r>
            <a:r>
              <a:rPr lang="en-US" sz="29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900" b="0" i="0" u="none" strike="noStrike" dirty="0">
                <a:solidFill>
                  <a:srgbClr val="FFFFFF"/>
                </a:solidFill>
                <a:ea typeface="Hallym Gothic Bold"/>
              </a:rPr>
              <a:t>정책과</a:t>
            </a:r>
            <a:r>
              <a:rPr lang="en-US" sz="29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900" b="0" i="0" u="none" strike="noStrike" dirty="0">
                <a:solidFill>
                  <a:srgbClr val="FFFFFF"/>
                </a:solidFill>
                <a:ea typeface="Hallym Gothic Bold"/>
              </a:rPr>
              <a:t>불공정</a:t>
            </a:r>
            <a:r>
              <a:rPr lang="en-US" sz="29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900" b="0" i="0" u="none" strike="noStrike" dirty="0">
                <a:solidFill>
                  <a:srgbClr val="FFFFFF"/>
                </a:solidFill>
                <a:ea typeface="Hallym Gothic Bold"/>
              </a:rPr>
              <a:t>경쟁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A0BFF9-DD90-D8CD-A777-5FDE776EE438}"/>
              </a:ext>
            </a:extLst>
          </p:cNvPr>
          <p:cNvSpPr txBox="1"/>
          <p:nvPr/>
        </p:nvSpPr>
        <p:spPr>
          <a:xfrm>
            <a:off x="2044700" y="2707640"/>
            <a:ext cx="1424940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3600" dirty="0">
                <a:latin typeface="프리젠테이션 6 SemiBold" pitchFamily="2" charset="-127"/>
                <a:ea typeface="프리젠테이션 6 SemiBold" pitchFamily="2" charset="-127"/>
              </a:rPr>
              <a:t>1. </a:t>
            </a:r>
            <a:r>
              <a:rPr lang="ko-KR" altLang="en-US" sz="3600" dirty="0">
                <a:latin typeface="프리젠테이션 6 SemiBold" pitchFamily="2" charset="-127"/>
                <a:ea typeface="프리젠테이션 6 SemiBold" pitchFamily="2" charset="-127"/>
              </a:rPr>
              <a:t>실행 시간</a:t>
            </a:r>
            <a:endParaRPr lang="en-US" altLang="ko-KR" sz="3600" dirty="0">
              <a:latin typeface="프리젠테이션 6 SemiBold" pitchFamily="2" charset="-127"/>
              <a:ea typeface="프리젠테이션 6 SemiBold" pitchFamily="2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재사용 가능한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데이터는 데이터베이스로 관리해</a:t>
            </a:r>
          </a:p>
          <a:p>
            <a:pPr>
              <a:lnSpc>
                <a:spcPct val="200000"/>
              </a:lnSpc>
            </a:pP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LLM 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대신 직접 가져오도록 처리하면 시간 단축 가능</a:t>
            </a:r>
            <a:endParaRPr lang="en-US" altLang="ko-KR" sz="36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3600" dirty="0">
                <a:latin typeface="프리젠테이션 6 SemiBold" pitchFamily="2" charset="-127"/>
                <a:ea typeface="프리젠테이션 6 SemiBold" pitchFamily="2" charset="-127"/>
              </a:rPr>
              <a:t>2. </a:t>
            </a:r>
            <a:r>
              <a:rPr lang="ko-KR" altLang="en-US" sz="3600" dirty="0">
                <a:latin typeface="프리젠테이션 6 SemiBold" pitchFamily="2" charset="-127"/>
                <a:ea typeface="프리젠테이션 6 SemiBold" pitchFamily="2" charset="-127"/>
              </a:rPr>
              <a:t>비용 문제</a:t>
            </a:r>
          </a:p>
          <a:p>
            <a:pPr>
              <a:lnSpc>
                <a:spcPct val="200000"/>
              </a:lnSpc>
            </a:pP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데이터가 많아지면 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RAG 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방식을 적용해 더 저렴한 모델을 사용할 수 있음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 </a:t>
            </a:r>
          </a:p>
          <a:p>
            <a:pPr>
              <a:lnSpc>
                <a:spcPct val="200000"/>
              </a:lnSpc>
            </a:pP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현재는 데이터가 적어 프롬프트 기반 접근을 선택</a:t>
            </a:r>
            <a:endParaRPr lang="en-US" altLang="ko-KR" sz="36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endParaRPr lang="ko-KR" altLang="en-US" sz="36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CE4A09-A43D-5AF8-43F0-1E7C175FE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BB95041-3A85-F167-7231-3F3707923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700" y="546100"/>
            <a:ext cx="723900" cy="635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1F8E08D9-8003-0C00-CE23-4B6CB15E1BA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2019300" y="1943100"/>
            <a:ext cx="14249400" cy="736600"/>
          </a:xfrm>
          <a:prstGeom prst="rect">
            <a:avLst/>
          </a:prstGeom>
        </p:spPr>
      </p:pic>
      <p:sp>
        <p:nvSpPr>
          <p:cNvPr id="22" name="TextBox 22">
            <a:extLst>
              <a:ext uri="{FF2B5EF4-FFF2-40B4-BE49-F238E27FC236}">
                <a16:creationId xmlns:a16="http://schemas.microsoft.com/office/drawing/2014/main" id="{5A16FCD8-67B0-8CCE-99F6-F6D1E82F8C75}"/>
              </a:ext>
            </a:extLst>
          </p:cNvPr>
          <p:cNvSpPr txBox="1"/>
          <p:nvPr/>
        </p:nvSpPr>
        <p:spPr>
          <a:xfrm>
            <a:off x="7480300" y="8585200"/>
            <a:ext cx="3378200" cy="67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3800" b="0" i="0" u="none" strike="noStrike" dirty="0">
                <a:solidFill>
                  <a:srgbClr val="FFFFFF"/>
                </a:solidFill>
                <a:ea typeface="Hallym Gothic Bold"/>
              </a:rPr>
              <a:t>기술</a:t>
            </a:r>
            <a:r>
              <a:rPr lang="en-US" sz="38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3800" b="0" i="0" u="none" strike="noStrike" dirty="0">
                <a:solidFill>
                  <a:srgbClr val="FFFFFF"/>
                </a:solidFill>
                <a:ea typeface="Hallym Gothic Bold"/>
              </a:rPr>
              <a:t>패권</a:t>
            </a:r>
            <a:r>
              <a:rPr lang="en-US" sz="38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3800" b="0" i="0" u="none" strike="noStrike" dirty="0">
                <a:solidFill>
                  <a:srgbClr val="FFFFFF"/>
                </a:solidFill>
                <a:ea typeface="Hallym Gothic Bold"/>
              </a:rPr>
              <a:t>경쟁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37A45C53-AFFA-689C-FFC8-E379E9FEF521}"/>
              </a:ext>
            </a:extLst>
          </p:cNvPr>
          <p:cNvSpPr txBox="1"/>
          <p:nvPr/>
        </p:nvSpPr>
        <p:spPr>
          <a:xfrm>
            <a:off x="4203700" y="914400"/>
            <a:ext cx="98806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4400" b="0" i="0" u="none" strike="noStrike" dirty="0">
                <a:solidFill>
                  <a:srgbClr val="004671"/>
                </a:solidFill>
                <a:latin typeface="프리젠테이션 6 SemiBold" pitchFamily="2" charset="-127"/>
                <a:ea typeface="프리젠테이션 6 SemiBold" pitchFamily="2" charset="-127"/>
              </a:rPr>
              <a:t>6. </a:t>
            </a:r>
            <a:r>
              <a:rPr lang="ko-KR" altLang="en-US" sz="4400" b="0" i="0" u="none" strike="noStrike" dirty="0">
                <a:solidFill>
                  <a:srgbClr val="004671"/>
                </a:solidFill>
                <a:latin typeface="프리젠테이션 6 SemiBold" pitchFamily="2" charset="-127"/>
                <a:ea typeface="프리젠테이션 6 SemiBold" pitchFamily="2" charset="-127"/>
              </a:rPr>
              <a:t>서비스의 확장성</a:t>
            </a:r>
            <a:endParaRPr lang="ko-KR" sz="4400" b="0" i="0" u="none" strike="noStrike" dirty="0">
              <a:solidFill>
                <a:srgbClr val="00467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E115627B-4BE0-9073-7822-2BC9A8E09DE6}"/>
              </a:ext>
            </a:extLst>
          </p:cNvPr>
          <p:cNvSpPr txBox="1"/>
          <p:nvPr/>
        </p:nvSpPr>
        <p:spPr>
          <a:xfrm>
            <a:off x="2387600" y="1968500"/>
            <a:ext cx="135128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800" b="0" i="0" u="none" strike="noStrike" dirty="0">
                <a:solidFill>
                  <a:srgbClr val="004671"/>
                </a:solidFill>
                <a:latin typeface="프리젠테이션 6 SemiBold" pitchFamily="2" charset="-127"/>
                <a:ea typeface="프리젠테이션 6 SemiBold" pitchFamily="2" charset="-127"/>
              </a:rPr>
              <a:t>1. </a:t>
            </a:r>
            <a:r>
              <a:rPr lang="ko-KR" altLang="en-US" sz="2800" b="0" i="0" u="none" strike="noStrike" dirty="0">
                <a:solidFill>
                  <a:srgbClr val="004671"/>
                </a:solidFill>
                <a:latin typeface="프리젠테이션 6 SemiBold" pitchFamily="2" charset="-127"/>
                <a:ea typeface="프리젠테이션 6 SemiBold" pitchFamily="2" charset="-127"/>
              </a:rPr>
              <a:t>한계 </a:t>
            </a:r>
            <a:r>
              <a:rPr lang="en-US" altLang="ko-KR" sz="2800" b="0" i="0" u="none" strike="noStrike" dirty="0">
                <a:solidFill>
                  <a:srgbClr val="004671"/>
                </a:solidFill>
                <a:latin typeface="프리젠테이션 6 SemiBold" pitchFamily="2" charset="-127"/>
                <a:ea typeface="프리젠테이션 6 SemiBold" pitchFamily="2" charset="-127"/>
              </a:rPr>
              <a:t>&amp; </a:t>
            </a:r>
            <a:r>
              <a:rPr lang="ko-KR" altLang="en-US" sz="2800" b="0" i="0" u="none" strike="noStrike" dirty="0">
                <a:solidFill>
                  <a:srgbClr val="004671"/>
                </a:solidFill>
                <a:latin typeface="프리젠테이션 6 SemiBold" pitchFamily="2" charset="-127"/>
                <a:ea typeface="프리젠테이션 6 SemiBold" pitchFamily="2" charset="-127"/>
              </a:rPr>
              <a:t>해결 방안</a:t>
            </a:r>
            <a:endParaRPr lang="en-US" sz="2800" b="0" i="0" u="none" strike="noStrike" dirty="0">
              <a:solidFill>
                <a:srgbClr val="00467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C92208E7-BFBB-361E-3A0D-229BD927F900}"/>
              </a:ext>
            </a:extLst>
          </p:cNvPr>
          <p:cNvSpPr txBox="1"/>
          <p:nvPr/>
        </p:nvSpPr>
        <p:spPr>
          <a:xfrm>
            <a:off x="7670800" y="3454400"/>
            <a:ext cx="2946400" cy="67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3800" b="0" i="0" u="none" strike="noStrike" dirty="0">
                <a:solidFill>
                  <a:srgbClr val="FFFFFF"/>
                </a:solidFill>
                <a:ea typeface="Hallym Gothic Bold"/>
              </a:rPr>
              <a:t>무역</a:t>
            </a:r>
            <a:r>
              <a:rPr lang="en-US" sz="38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3800" b="0" i="0" u="none" strike="noStrike" dirty="0">
                <a:solidFill>
                  <a:srgbClr val="FFFFFF"/>
                </a:solidFill>
                <a:ea typeface="Hallym Gothic Bold"/>
              </a:rPr>
              <a:t>불균형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09BB6B73-9080-1D35-8CDB-905DE81ACDD3}"/>
              </a:ext>
            </a:extLst>
          </p:cNvPr>
          <p:cNvSpPr txBox="1"/>
          <p:nvPr/>
        </p:nvSpPr>
        <p:spPr>
          <a:xfrm>
            <a:off x="6464300" y="6667500"/>
            <a:ext cx="5359400" cy="736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2000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년대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이후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중국의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경제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부상과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 </a:t>
            </a:r>
          </a:p>
          <a:p>
            <a:pPr lvl="0" algn="ctr">
              <a:lnSpc>
                <a:spcPct val="124499"/>
              </a:lnSpc>
            </a:pP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미국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경제에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미친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영향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FFD9A977-AD8E-71AD-D163-A90834AC4989}"/>
              </a:ext>
            </a:extLst>
          </p:cNvPr>
          <p:cNvSpPr txBox="1"/>
          <p:nvPr/>
        </p:nvSpPr>
        <p:spPr>
          <a:xfrm>
            <a:off x="1346200" y="5905500"/>
            <a:ext cx="34544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600" b="0" i="0" u="none" strike="noStrike">
                <a:solidFill>
                  <a:srgbClr val="FFFFFF"/>
                </a:solidFill>
                <a:ea typeface="Hallym Gothic Bold"/>
              </a:rPr>
              <a:t>트럼프</a:t>
            </a:r>
            <a:r>
              <a:rPr lang="en-US" sz="2600" b="0" i="0" u="none" strike="noStrike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600" b="0" i="0" u="none" strike="noStrike">
                <a:solidFill>
                  <a:srgbClr val="FFFFFF"/>
                </a:solidFill>
                <a:ea typeface="Hallym Gothic Bold"/>
              </a:rPr>
              <a:t>행정부의</a:t>
            </a:r>
            <a:r>
              <a:rPr lang="en-US" sz="2600" b="0" i="0" u="none" strike="noStrike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600" b="0" i="0" u="none" strike="noStrike">
                <a:solidFill>
                  <a:srgbClr val="FFFFFF"/>
                </a:solidFill>
                <a:ea typeface="Hallym Gothic Bold"/>
              </a:rPr>
              <a:t>등장과</a:t>
            </a:r>
            <a:r>
              <a:rPr lang="en-US" sz="2600" b="0" i="0" u="none" strike="noStrike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600" b="0" i="0" u="none" strike="noStrike">
                <a:solidFill>
                  <a:srgbClr val="FFFFFF"/>
                </a:solidFill>
                <a:ea typeface="Hallym Gothic Bold"/>
              </a:rPr>
              <a:t>보호무역주의</a:t>
            </a:r>
            <a:r>
              <a:rPr lang="en-US" sz="2600" b="0" i="0" u="none" strike="noStrike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600" b="0" i="0" u="none" strike="noStrike">
                <a:solidFill>
                  <a:srgbClr val="FFFFFF"/>
                </a:solidFill>
                <a:ea typeface="Hallym Gothic Bold"/>
              </a:rPr>
              <a:t>강화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9B8C8EC7-D6FA-4389-D07F-6497CD4B0CC6}"/>
              </a:ext>
            </a:extLst>
          </p:cNvPr>
          <p:cNvSpPr txBox="1"/>
          <p:nvPr/>
        </p:nvSpPr>
        <p:spPr>
          <a:xfrm>
            <a:off x="13754100" y="5842000"/>
            <a:ext cx="3149600" cy="965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900" b="0" i="0" u="none" strike="noStrike" dirty="0">
                <a:solidFill>
                  <a:srgbClr val="FFFFFF"/>
                </a:solidFill>
                <a:ea typeface="Hallym Gothic Bold"/>
              </a:rPr>
              <a:t>중국의</a:t>
            </a:r>
            <a:r>
              <a:rPr lang="en-US" sz="29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900" b="0" i="0" u="none" strike="noStrike" dirty="0">
                <a:solidFill>
                  <a:srgbClr val="FFFFFF"/>
                </a:solidFill>
                <a:ea typeface="Hallym Gothic Bold"/>
              </a:rPr>
              <a:t>산업</a:t>
            </a:r>
            <a:r>
              <a:rPr lang="en-US" sz="29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900" b="0" i="0" u="none" strike="noStrike" dirty="0">
                <a:solidFill>
                  <a:srgbClr val="FFFFFF"/>
                </a:solidFill>
                <a:ea typeface="Hallym Gothic Bold"/>
              </a:rPr>
              <a:t>정책과</a:t>
            </a:r>
            <a:r>
              <a:rPr lang="en-US" sz="29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900" b="0" i="0" u="none" strike="noStrike" dirty="0">
                <a:solidFill>
                  <a:srgbClr val="FFFFFF"/>
                </a:solidFill>
                <a:ea typeface="Hallym Gothic Bold"/>
              </a:rPr>
              <a:t>불공정</a:t>
            </a:r>
            <a:r>
              <a:rPr lang="en-US" sz="29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900" b="0" i="0" u="none" strike="noStrike" dirty="0">
                <a:solidFill>
                  <a:srgbClr val="FFFFFF"/>
                </a:solidFill>
                <a:ea typeface="Hallym Gothic Bold"/>
              </a:rPr>
              <a:t>경쟁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341851D-EE81-01A7-95C2-683416A5CFA8}"/>
              </a:ext>
            </a:extLst>
          </p:cNvPr>
          <p:cNvSpPr txBox="1"/>
          <p:nvPr/>
        </p:nvSpPr>
        <p:spPr>
          <a:xfrm>
            <a:off x="2044700" y="3071991"/>
            <a:ext cx="142494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3600" dirty="0">
                <a:latin typeface="프리젠테이션 6 SemiBold" pitchFamily="2" charset="-127"/>
                <a:ea typeface="프리젠테이션 6 SemiBold" pitchFamily="2" charset="-127"/>
              </a:rPr>
              <a:t>3. </a:t>
            </a:r>
            <a:r>
              <a:rPr lang="ko-KR" altLang="en-US" sz="3600" dirty="0">
                <a:latin typeface="프리젠테이션 6 SemiBold" pitchFamily="2" charset="-127"/>
                <a:ea typeface="프리젠테이션 6 SemiBold" pitchFamily="2" charset="-127"/>
              </a:rPr>
              <a:t>내용의 정확성 여부</a:t>
            </a:r>
          </a:p>
          <a:p>
            <a:pPr>
              <a:lnSpc>
                <a:spcPct val="200000"/>
              </a:lnSpc>
            </a:pP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신뢰도 높은 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API(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예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: </a:t>
            </a:r>
            <a:r>
              <a:rPr lang="en-US" altLang="ko-KR" sz="3600" dirty="0" err="1">
                <a:latin typeface="프리젠테이션 4 Regular" pitchFamily="2" charset="-127"/>
                <a:ea typeface="프리젠테이션 4 Regular" pitchFamily="2" charset="-127"/>
              </a:rPr>
              <a:t>Serp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 API)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와 추가 검증 과정을 도입해 데이터 정확성 보완 가능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 </a:t>
            </a:r>
          </a:p>
          <a:p>
            <a:pPr>
              <a:lnSpc>
                <a:spcPct val="200000"/>
              </a:lnSpc>
            </a:pP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최신 뉴스들을 </a:t>
            </a:r>
            <a:r>
              <a:rPr lang="ko-KR" altLang="en-US" sz="3600" dirty="0" err="1">
                <a:latin typeface="프리젠테이션 4 Regular" pitchFamily="2" charset="-127"/>
                <a:ea typeface="프리젠테이션 4 Regular" pitchFamily="2" charset="-127"/>
              </a:rPr>
              <a:t>전처리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 한 뒤 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RAG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를 이용하는 방향도 존재</a:t>
            </a:r>
            <a:endParaRPr lang="en-US" altLang="ko-KR" sz="36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3600" dirty="0">
                <a:latin typeface="프리젠테이션 6 SemiBold" pitchFamily="2" charset="-127"/>
                <a:ea typeface="프리젠테이션 6 SemiBold" pitchFamily="2" charset="-127"/>
              </a:rPr>
              <a:t>4.</a:t>
            </a:r>
            <a:r>
              <a:rPr lang="ko-KR" altLang="en-US" sz="3600" dirty="0"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en-US" altLang="ko-KR" sz="3600" dirty="0">
                <a:latin typeface="프리젠테이션 6 SemiBold" pitchFamily="2" charset="-127"/>
                <a:ea typeface="프리젠테이션 6 SemiBold" pitchFamily="2" charset="-127"/>
              </a:rPr>
              <a:t>LLM</a:t>
            </a:r>
            <a:r>
              <a:rPr lang="ko-KR" altLang="en-US" sz="3600" dirty="0">
                <a:latin typeface="프리젠테이션 6 SemiBold" pitchFamily="2" charset="-127"/>
                <a:ea typeface="프리젠테이션 6 SemiBold" pitchFamily="2" charset="-127"/>
              </a:rPr>
              <a:t>의 오작동 가능성</a:t>
            </a:r>
          </a:p>
          <a:p>
            <a:pPr>
              <a:lnSpc>
                <a:spcPct val="200000"/>
              </a:lnSpc>
            </a:pP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오류를 잡는 후처리 메커니즘 추가로 포맷 정확도를 높일 수 있음</a:t>
            </a:r>
            <a:endParaRPr lang="en-US" altLang="ko-KR" sz="36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endParaRPr lang="ko-KR" altLang="en-US" sz="36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41245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3C96DD-C52E-9559-82E6-AF9646802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2F389E5-CEEB-1015-C658-A5DA245CF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700" y="546100"/>
            <a:ext cx="723900" cy="635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5F9655CB-3E8E-CCCD-37F9-468EEF4F127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2019300" y="1943100"/>
            <a:ext cx="14249400" cy="736600"/>
          </a:xfrm>
          <a:prstGeom prst="rect">
            <a:avLst/>
          </a:prstGeom>
        </p:spPr>
      </p:pic>
      <p:sp>
        <p:nvSpPr>
          <p:cNvPr id="22" name="TextBox 22">
            <a:extLst>
              <a:ext uri="{FF2B5EF4-FFF2-40B4-BE49-F238E27FC236}">
                <a16:creationId xmlns:a16="http://schemas.microsoft.com/office/drawing/2014/main" id="{4F8C34D9-3CF3-9FC9-5991-6C595FA907B1}"/>
              </a:ext>
            </a:extLst>
          </p:cNvPr>
          <p:cNvSpPr txBox="1"/>
          <p:nvPr/>
        </p:nvSpPr>
        <p:spPr>
          <a:xfrm>
            <a:off x="7480300" y="8585200"/>
            <a:ext cx="3378200" cy="67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3800" b="0" i="0" u="none" strike="noStrike" dirty="0">
                <a:solidFill>
                  <a:srgbClr val="FFFFFF"/>
                </a:solidFill>
                <a:ea typeface="Hallym Gothic Bold"/>
              </a:rPr>
              <a:t>기술</a:t>
            </a:r>
            <a:r>
              <a:rPr lang="en-US" sz="38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3800" b="0" i="0" u="none" strike="noStrike" dirty="0">
                <a:solidFill>
                  <a:srgbClr val="FFFFFF"/>
                </a:solidFill>
                <a:ea typeface="Hallym Gothic Bold"/>
              </a:rPr>
              <a:t>패권</a:t>
            </a:r>
            <a:r>
              <a:rPr lang="en-US" sz="38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3800" b="0" i="0" u="none" strike="noStrike" dirty="0">
                <a:solidFill>
                  <a:srgbClr val="FFFFFF"/>
                </a:solidFill>
                <a:ea typeface="Hallym Gothic Bold"/>
              </a:rPr>
              <a:t>경쟁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70757569-0608-9B21-317B-77A5DC125775}"/>
              </a:ext>
            </a:extLst>
          </p:cNvPr>
          <p:cNvSpPr txBox="1"/>
          <p:nvPr/>
        </p:nvSpPr>
        <p:spPr>
          <a:xfrm>
            <a:off x="4203700" y="914400"/>
            <a:ext cx="98806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4400" b="0" i="0" u="none" strike="noStrike" dirty="0">
                <a:solidFill>
                  <a:srgbClr val="004671"/>
                </a:solidFill>
                <a:latin typeface="프리젠테이션 6 SemiBold" pitchFamily="2" charset="-127"/>
                <a:ea typeface="프리젠테이션 6 SemiBold" pitchFamily="2" charset="-127"/>
              </a:rPr>
              <a:t>6. </a:t>
            </a:r>
            <a:r>
              <a:rPr lang="ko-KR" altLang="en-US" sz="4400" b="0" i="0" u="none" strike="noStrike" dirty="0">
                <a:solidFill>
                  <a:srgbClr val="004671"/>
                </a:solidFill>
                <a:latin typeface="프리젠테이션 6 SemiBold" pitchFamily="2" charset="-127"/>
                <a:ea typeface="프리젠테이션 6 SemiBold" pitchFamily="2" charset="-127"/>
              </a:rPr>
              <a:t>서비스의 확장성</a:t>
            </a:r>
            <a:endParaRPr lang="ko-KR" sz="4400" b="0" i="0" u="none" strike="noStrike" dirty="0">
              <a:solidFill>
                <a:srgbClr val="00467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416EC6A-4A12-2FE0-D9F4-C4933996A8AA}"/>
              </a:ext>
            </a:extLst>
          </p:cNvPr>
          <p:cNvSpPr txBox="1"/>
          <p:nvPr/>
        </p:nvSpPr>
        <p:spPr>
          <a:xfrm>
            <a:off x="2387600" y="1968500"/>
            <a:ext cx="135128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800" b="0" i="0" u="none" strike="noStrike" dirty="0">
                <a:solidFill>
                  <a:srgbClr val="004671"/>
                </a:solidFill>
                <a:latin typeface="프리젠테이션 6 SemiBold" pitchFamily="2" charset="-127"/>
                <a:ea typeface="프리젠테이션 6 SemiBold" pitchFamily="2" charset="-127"/>
              </a:rPr>
              <a:t>2. </a:t>
            </a:r>
            <a:r>
              <a:rPr lang="ko-KR" altLang="en-US" sz="2800" b="0" i="0" u="none" strike="noStrike" dirty="0">
                <a:solidFill>
                  <a:srgbClr val="004671"/>
                </a:solidFill>
                <a:latin typeface="프리젠테이션 6 SemiBold" pitchFamily="2" charset="-127"/>
                <a:ea typeface="프리젠테이션 6 SemiBold" pitchFamily="2" charset="-127"/>
              </a:rPr>
              <a:t>프로젝트의 발전 가능성</a:t>
            </a:r>
            <a:endParaRPr lang="en-US" sz="2800" b="0" i="0" u="none" strike="noStrike" dirty="0">
              <a:solidFill>
                <a:srgbClr val="00467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892955F7-95B4-F023-DA1E-979E1ED1DAFE}"/>
              </a:ext>
            </a:extLst>
          </p:cNvPr>
          <p:cNvSpPr txBox="1"/>
          <p:nvPr/>
        </p:nvSpPr>
        <p:spPr>
          <a:xfrm>
            <a:off x="7670800" y="3454400"/>
            <a:ext cx="2946400" cy="67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3800" b="0" i="0" u="none" strike="noStrike" dirty="0">
                <a:solidFill>
                  <a:srgbClr val="FFFFFF"/>
                </a:solidFill>
                <a:ea typeface="Hallym Gothic Bold"/>
              </a:rPr>
              <a:t>무역</a:t>
            </a:r>
            <a:r>
              <a:rPr lang="en-US" sz="38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3800" b="0" i="0" u="none" strike="noStrike" dirty="0">
                <a:solidFill>
                  <a:srgbClr val="FFFFFF"/>
                </a:solidFill>
                <a:ea typeface="Hallym Gothic Bold"/>
              </a:rPr>
              <a:t>불균형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B478649A-9B51-59AE-0876-01192A910476}"/>
              </a:ext>
            </a:extLst>
          </p:cNvPr>
          <p:cNvSpPr txBox="1"/>
          <p:nvPr/>
        </p:nvSpPr>
        <p:spPr>
          <a:xfrm>
            <a:off x="6464300" y="6667500"/>
            <a:ext cx="5359400" cy="736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2000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년대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이후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중국의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경제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부상과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 </a:t>
            </a:r>
          </a:p>
          <a:p>
            <a:pPr lvl="0" algn="ctr">
              <a:lnSpc>
                <a:spcPct val="124499"/>
              </a:lnSpc>
            </a:pP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미국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경제에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미친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영향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A94C825A-82EA-F49E-8E80-BDEF1CB48DEF}"/>
              </a:ext>
            </a:extLst>
          </p:cNvPr>
          <p:cNvSpPr txBox="1"/>
          <p:nvPr/>
        </p:nvSpPr>
        <p:spPr>
          <a:xfrm>
            <a:off x="1346200" y="5905500"/>
            <a:ext cx="34544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600" b="0" i="0" u="none" strike="noStrike">
                <a:solidFill>
                  <a:srgbClr val="FFFFFF"/>
                </a:solidFill>
                <a:ea typeface="Hallym Gothic Bold"/>
              </a:rPr>
              <a:t>트럼프</a:t>
            </a:r>
            <a:r>
              <a:rPr lang="en-US" sz="2600" b="0" i="0" u="none" strike="noStrike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600" b="0" i="0" u="none" strike="noStrike">
                <a:solidFill>
                  <a:srgbClr val="FFFFFF"/>
                </a:solidFill>
                <a:ea typeface="Hallym Gothic Bold"/>
              </a:rPr>
              <a:t>행정부의</a:t>
            </a:r>
            <a:r>
              <a:rPr lang="en-US" sz="2600" b="0" i="0" u="none" strike="noStrike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600" b="0" i="0" u="none" strike="noStrike">
                <a:solidFill>
                  <a:srgbClr val="FFFFFF"/>
                </a:solidFill>
                <a:ea typeface="Hallym Gothic Bold"/>
              </a:rPr>
              <a:t>등장과</a:t>
            </a:r>
            <a:r>
              <a:rPr lang="en-US" sz="2600" b="0" i="0" u="none" strike="noStrike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600" b="0" i="0" u="none" strike="noStrike">
                <a:solidFill>
                  <a:srgbClr val="FFFFFF"/>
                </a:solidFill>
                <a:ea typeface="Hallym Gothic Bold"/>
              </a:rPr>
              <a:t>보호무역주의</a:t>
            </a:r>
            <a:r>
              <a:rPr lang="en-US" sz="2600" b="0" i="0" u="none" strike="noStrike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600" b="0" i="0" u="none" strike="noStrike">
                <a:solidFill>
                  <a:srgbClr val="FFFFFF"/>
                </a:solidFill>
                <a:ea typeface="Hallym Gothic Bold"/>
              </a:rPr>
              <a:t>강화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47675BEF-DB5B-D170-B5F4-7DB4D68D3B71}"/>
              </a:ext>
            </a:extLst>
          </p:cNvPr>
          <p:cNvSpPr txBox="1"/>
          <p:nvPr/>
        </p:nvSpPr>
        <p:spPr>
          <a:xfrm>
            <a:off x="13754100" y="5842000"/>
            <a:ext cx="3149600" cy="965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900" b="0" i="0" u="none" strike="noStrike" dirty="0">
                <a:solidFill>
                  <a:srgbClr val="FFFFFF"/>
                </a:solidFill>
                <a:ea typeface="Hallym Gothic Bold"/>
              </a:rPr>
              <a:t>중국의</a:t>
            </a:r>
            <a:r>
              <a:rPr lang="en-US" sz="29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900" b="0" i="0" u="none" strike="noStrike" dirty="0">
                <a:solidFill>
                  <a:srgbClr val="FFFFFF"/>
                </a:solidFill>
                <a:ea typeface="Hallym Gothic Bold"/>
              </a:rPr>
              <a:t>산업</a:t>
            </a:r>
            <a:r>
              <a:rPr lang="en-US" sz="29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900" b="0" i="0" u="none" strike="noStrike" dirty="0">
                <a:solidFill>
                  <a:srgbClr val="FFFFFF"/>
                </a:solidFill>
                <a:ea typeface="Hallym Gothic Bold"/>
              </a:rPr>
              <a:t>정책과</a:t>
            </a:r>
            <a:r>
              <a:rPr lang="en-US" sz="29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900" b="0" i="0" u="none" strike="noStrike" dirty="0">
                <a:solidFill>
                  <a:srgbClr val="FFFFFF"/>
                </a:solidFill>
                <a:ea typeface="Hallym Gothic Bold"/>
              </a:rPr>
              <a:t>불공정</a:t>
            </a:r>
            <a:r>
              <a:rPr lang="en-US" sz="29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900" b="0" i="0" u="none" strike="noStrike" dirty="0">
                <a:solidFill>
                  <a:srgbClr val="FFFFFF"/>
                </a:solidFill>
                <a:ea typeface="Hallym Gothic Bold"/>
              </a:rPr>
              <a:t>경쟁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7B0BC8C-1581-60D9-7EB9-86A7D7BC1AD5}"/>
              </a:ext>
            </a:extLst>
          </p:cNvPr>
          <p:cNvSpPr txBox="1"/>
          <p:nvPr/>
        </p:nvSpPr>
        <p:spPr>
          <a:xfrm>
            <a:off x="2044700" y="3071991"/>
            <a:ext cx="14249400" cy="6642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600" dirty="0">
                <a:latin typeface="프리젠테이션 6 SemiBold" pitchFamily="2" charset="-127"/>
                <a:ea typeface="프리젠테이션 6 SemiBold" pitchFamily="2" charset="-127"/>
              </a:rPr>
              <a:t>1. </a:t>
            </a:r>
            <a:r>
              <a:rPr lang="ko-KR" altLang="en-US" sz="3600" dirty="0">
                <a:latin typeface="프리젠테이션 6 SemiBold" pitchFamily="2" charset="-127"/>
                <a:ea typeface="프리젠테이션 6 SemiBold" pitchFamily="2" charset="-127"/>
              </a:rPr>
              <a:t>고객별 페르소나 지정</a:t>
            </a:r>
          </a:p>
          <a:p>
            <a:pPr>
              <a:lnSpc>
                <a:spcPct val="150000"/>
              </a:lnSpc>
            </a:pP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-</a:t>
            </a:r>
            <a:r>
              <a:rPr lang="ko-KR" altLang="en-US" sz="3600" dirty="0" err="1">
                <a:latin typeface="프리젠테이션 4 Regular" pitchFamily="2" charset="-127"/>
                <a:ea typeface="프리젠테이션 4 Regular" pitchFamily="2" charset="-127"/>
              </a:rPr>
              <a:t>머신러닝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딥러닝 활용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(c.f. NH 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은행 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AI 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추천 모델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=&gt;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고객 데이터 기반 투자 목적 페르소나 지정</a:t>
            </a:r>
            <a:endParaRPr lang="en-US" altLang="ko-KR" sz="36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-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이를 반영한 개인 맞춤형 투자 포트폴리오 구성 및 제공</a:t>
            </a:r>
            <a:endParaRPr lang="en-US" altLang="ko-KR" sz="36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36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3600" dirty="0">
                <a:latin typeface="프리젠테이션 6 SemiBold" pitchFamily="2" charset="-127"/>
                <a:ea typeface="프리젠테이션 6 SemiBold" pitchFamily="2" charset="-127"/>
              </a:rPr>
              <a:t>2. ETF </a:t>
            </a:r>
            <a:r>
              <a:rPr lang="ko-KR" altLang="en-US" sz="3600" dirty="0">
                <a:latin typeface="프리젠테이션 6 SemiBold" pitchFamily="2" charset="-127"/>
                <a:ea typeface="프리젠테이션 6 SemiBold" pitchFamily="2" charset="-127"/>
              </a:rPr>
              <a:t>분류 체계 확립</a:t>
            </a:r>
          </a:p>
          <a:p>
            <a:pPr>
              <a:lnSpc>
                <a:spcPct val="150000"/>
              </a:lnSpc>
            </a:pP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-Classification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을 통한 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ETF 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분류 체계 확립</a:t>
            </a:r>
            <a:endParaRPr lang="en-US" altLang="ko-KR" sz="36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-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분류에 따른 보고서 형식 제작 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&amp; Example selector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를 활용한 적용</a:t>
            </a:r>
          </a:p>
        </p:txBody>
      </p:sp>
    </p:spTree>
    <p:extLst>
      <p:ext uri="{BB962C8B-B14F-4D97-AF65-F5344CB8AC3E}">
        <p14:creationId xmlns:p14="http://schemas.microsoft.com/office/powerpoint/2010/main" val="27127460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3FC04C-1BEF-A2B2-2FCD-85ECA57A7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95FBA8A-3C31-2076-8823-3B9CBF170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700" y="546100"/>
            <a:ext cx="723900" cy="635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DB92210C-CB7B-DCF5-F9DE-63D03968E0C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2019300" y="1943100"/>
            <a:ext cx="14249400" cy="736600"/>
          </a:xfrm>
          <a:prstGeom prst="rect">
            <a:avLst/>
          </a:prstGeom>
        </p:spPr>
      </p:pic>
      <p:sp>
        <p:nvSpPr>
          <p:cNvPr id="22" name="TextBox 22">
            <a:extLst>
              <a:ext uri="{FF2B5EF4-FFF2-40B4-BE49-F238E27FC236}">
                <a16:creationId xmlns:a16="http://schemas.microsoft.com/office/drawing/2014/main" id="{AB2D513D-DF78-AA4B-D891-632E5C12CD24}"/>
              </a:ext>
            </a:extLst>
          </p:cNvPr>
          <p:cNvSpPr txBox="1"/>
          <p:nvPr/>
        </p:nvSpPr>
        <p:spPr>
          <a:xfrm>
            <a:off x="7480300" y="8585200"/>
            <a:ext cx="3378200" cy="67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3800" b="0" i="0" u="none" strike="noStrike" dirty="0">
                <a:solidFill>
                  <a:srgbClr val="FFFFFF"/>
                </a:solidFill>
                <a:ea typeface="Hallym Gothic Bold"/>
              </a:rPr>
              <a:t>기술</a:t>
            </a:r>
            <a:r>
              <a:rPr lang="en-US" sz="38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3800" b="0" i="0" u="none" strike="noStrike" dirty="0">
                <a:solidFill>
                  <a:srgbClr val="FFFFFF"/>
                </a:solidFill>
                <a:ea typeface="Hallym Gothic Bold"/>
              </a:rPr>
              <a:t>패권</a:t>
            </a:r>
            <a:r>
              <a:rPr lang="en-US" sz="38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3800" b="0" i="0" u="none" strike="noStrike" dirty="0">
                <a:solidFill>
                  <a:srgbClr val="FFFFFF"/>
                </a:solidFill>
                <a:ea typeface="Hallym Gothic Bold"/>
              </a:rPr>
              <a:t>경쟁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FCB7899-A05A-43BB-7078-C92CF1A9AB60}"/>
              </a:ext>
            </a:extLst>
          </p:cNvPr>
          <p:cNvSpPr txBox="1"/>
          <p:nvPr/>
        </p:nvSpPr>
        <p:spPr>
          <a:xfrm>
            <a:off x="4203700" y="914400"/>
            <a:ext cx="98806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4400" b="0" i="0" u="none" strike="noStrike" dirty="0">
                <a:solidFill>
                  <a:srgbClr val="004671"/>
                </a:solidFill>
                <a:latin typeface="프리젠테이션 6 SemiBold" pitchFamily="2" charset="-127"/>
                <a:ea typeface="프리젠테이션 6 SemiBold" pitchFamily="2" charset="-127"/>
              </a:rPr>
              <a:t>6. </a:t>
            </a:r>
            <a:r>
              <a:rPr lang="ko-KR" altLang="en-US" sz="4400" b="0" i="0" u="none" strike="noStrike" dirty="0">
                <a:solidFill>
                  <a:srgbClr val="004671"/>
                </a:solidFill>
                <a:latin typeface="프리젠테이션 6 SemiBold" pitchFamily="2" charset="-127"/>
                <a:ea typeface="프리젠테이션 6 SemiBold" pitchFamily="2" charset="-127"/>
              </a:rPr>
              <a:t>서비스의 확장성</a:t>
            </a:r>
            <a:endParaRPr lang="ko-KR" sz="4400" b="0" i="0" u="none" strike="noStrike" dirty="0">
              <a:solidFill>
                <a:srgbClr val="00467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C0E937B8-6804-0A2D-CB20-A5466A80D267}"/>
              </a:ext>
            </a:extLst>
          </p:cNvPr>
          <p:cNvSpPr txBox="1"/>
          <p:nvPr/>
        </p:nvSpPr>
        <p:spPr>
          <a:xfrm>
            <a:off x="2387600" y="1968500"/>
            <a:ext cx="135128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800" b="0" i="0" u="none" strike="noStrike" dirty="0">
                <a:solidFill>
                  <a:srgbClr val="004671"/>
                </a:solidFill>
                <a:latin typeface="프리젠테이션 6 SemiBold" pitchFamily="2" charset="-127"/>
                <a:ea typeface="프리젠테이션 6 SemiBold" pitchFamily="2" charset="-127"/>
              </a:rPr>
              <a:t>2. </a:t>
            </a:r>
            <a:r>
              <a:rPr lang="ko-KR" altLang="en-US" sz="2800" b="0" i="0" u="none" strike="noStrike" dirty="0">
                <a:solidFill>
                  <a:srgbClr val="004671"/>
                </a:solidFill>
                <a:latin typeface="프리젠테이션 6 SemiBold" pitchFamily="2" charset="-127"/>
                <a:ea typeface="프리젠테이션 6 SemiBold" pitchFamily="2" charset="-127"/>
              </a:rPr>
              <a:t>프로젝트의 발전 가능성</a:t>
            </a:r>
            <a:endParaRPr lang="en-US" sz="2800" b="0" i="0" u="none" strike="noStrike" dirty="0">
              <a:solidFill>
                <a:srgbClr val="00467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DBF6784D-5DCB-8E8A-48AF-435B5B8BF4A5}"/>
              </a:ext>
            </a:extLst>
          </p:cNvPr>
          <p:cNvSpPr txBox="1"/>
          <p:nvPr/>
        </p:nvSpPr>
        <p:spPr>
          <a:xfrm>
            <a:off x="7670800" y="3454400"/>
            <a:ext cx="2946400" cy="67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3800" b="0" i="0" u="none" strike="noStrike" dirty="0">
                <a:solidFill>
                  <a:srgbClr val="FFFFFF"/>
                </a:solidFill>
                <a:ea typeface="Hallym Gothic Bold"/>
              </a:rPr>
              <a:t>무역</a:t>
            </a:r>
            <a:r>
              <a:rPr lang="en-US" sz="38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3800" b="0" i="0" u="none" strike="noStrike" dirty="0">
                <a:solidFill>
                  <a:srgbClr val="FFFFFF"/>
                </a:solidFill>
                <a:ea typeface="Hallym Gothic Bold"/>
              </a:rPr>
              <a:t>불균형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2569F183-A753-0287-037A-9FA81D9AE064}"/>
              </a:ext>
            </a:extLst>
          </p:cNvPr>
          <p:cNvSpPr txBox="1"/>
          <p:nvPr/>
        </p:nvSpPr>
        <p:spPr>
          <a:xfrm>
            <a:off x="6464300" y="6667500"/>
            <a:ext cx="5359400" cy="736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2000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년대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이후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중국의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경제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부상과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 </a:t>
            </a:r>
          </a:p>
          <a:p>
            <a:pPr lvl="0" algn="ctr">
              <a:lnSpc>
                <a:spcPct val="124499"/>
              </a:lnSpc>
            </a:pP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미국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경제에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미친</a:t>
            </a:r>
            <a:r>
              <a:rPr lang="en-US" sz="2000" b="0" i="0" u="none" strike="noStrike">
                <a:solidFill>
                  <a:srgbClr val="FFFFFF"/>
                </a:solidFill>
                <a:latin typeface="Hallym Gothic Medium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Hallym Gothic Medium"/>
              </a:rPr>
              <a:t>영향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A5B49059-4521-1ABE-12E5-ABF439E4778F}"/>
              </a:ext>
            </a:extLst>
          </p:cNvPr>
          <p:cNvSpPr txBox="1"/>
          <p:nvPr/>
        </p:nvSpPr>
        <p:spPr>
          <a:xfrm>
            <a:off x="1346200" y="5905500"/>
            <a:ext cx="34544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600" b="0" i="0" u="none" strike="noStrike">
                <a:solidFill>
                  <a:srgbClr val="FFFFFF"/>
                </a:solidFill>
                <a:ea typeface="Hallym Gothic Bold"/>
              </a:rPr>
              <a:t>트럼프</a:t>
            </a:r>
            <a:r>
              <a:rPr lang="en-US" sz="2600" b="0" i="0" u="none" strike="noStrike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600" b="0" i="0" u="none" strike="noStrike">
                <a:solidFill>
                  <a:srgbClr val="FFFFFF"/>
                </a:solidFill>
                <a:ea typeface="Hallym Gothic Bold"/>
              </a:rPr>
              <a:t>행정부의</a:t>
            </a:r>
            <a:r>
              <a:rPr lang="en-US" sz="2600" b="0" i="0" u="none" strike="noStrike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600" b="0" i="0" u="none" strike="noStrike">
                <a:solidFill>
                  <a:srgbClr val="FFFFFF"/>
                </a:solidFill>
                <a:ea typeface="Hallym Gothic Bold"/>
              </a:rPr>
              <a:t>등장과</a:t>
            </a:r>
            <a:r>
              <a:rPr lang="en-US" sz="2600" b="0" i="0" u="none" strike="noStrike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600" b="0" i="0" u="none" strike="noStrike">
                <a:solidFill>
                  <a:srgbClr val="FFFFFF"/>
                </a:solidFill>
                <a:ea typeface="Hallym Gothic Bold"/>
              </a:rPr>
              <a:t>보호무역주의</a:t>
            </a:r>
            <a:r>
              <a:rPr lang="en-US" sz="2600" b="0" i="0" u="none" strike="noStrike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600" b="0" i="0" u="none" strike="noStrike">
                <a:solidFill>
                  <a:srgbClr val="FFFFFF"/>
                </a:solidFill>
                <a:ea typeface="Hallym Gothic Bold"/>
              </a:rPr>
              <a:t>강화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B6A7FD6-6E04-666E-CD47-E42B454CA040}"/>
              </a:ext>
            </a:extLst>
          </p:cNvPr>
          <p:cNvSpPr txBox="1"/>
          <p:nvPr/>
        </p:nvSpPr>
        <p:spPr>
          <a:xfrm>
            <a:off x="13754100" y="5842000"/>
            <a:ext cx="3149600" cy="965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900" b="0" i="0" u="none" strike="noStrike" dirty="0">
                <a:solidFill>
                  <a:srgbClr val="FFFFFF"/>
                </a:solidFill>
                <a:ea typeface="Hallym Gothic Bold"/>
              </a:rPr>
              <a:t>중국의</a:t>
            </a:r>
            <a:r>
              <a:rPr lang="en-US" sz="29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900" b="0" i="0" u="none" strike="noStrike" dirty="0">
                <a:solidFill>
                  <a:srgbClr val="FFFFFF"/>
                </a:solidFill>
                <a:ea typeface="Hallym Gothic Bold"/>
              </a:rPr>
              <a:t>산업</a:t>
            </a:r>
            <a:r>
              <a:rPr lang="en-US" sz="29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900" b="0" i="0" u="none" strike="noStrike" dirty="0">
                <a:solidFill>
                  <a:srgbClr val="FFFFFF"/>
                </a:solidFill>
                <a:ea typeface="Hallym Gothic Bold"/>
              </a:rPr>
              <a:t>정책과</a:t>
            </a:r>
            <a:r>
              <a:rPr lang="en-US" sz="29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900" b="0" i="0" u="none" strike="noStrike" dirty="0">
                <a:solidFill>
                  <a:srgbClr val="FFFFFF"/>
                </a:solidFill>
                <a:ea typeface="Hallym Gothic Bold"/>
              </a:rPr>
              <a:t>불공정</a:t>
            </a:r>
            <a:r>
              <a:rPr lang="en-US" sz="2900" b="0" i="0" u="none" strike="noStrike" dirty="0">
                <a:solidFill>
                  <a:srgbClr val="FFFFFF"/>
                </a:solidFill>
                <a:latin typeface="Hallym Gothic Bold"/>
              </a:rPr>
              <a:t> </a:t>
            </a:r>
            <a:r>
              <a:rPr lang="ko-KR" sz="2900" b="0" i="0" u="none" strike="noStrike" dirty="0">
                <a:solidFill>
                  <a:srgbClr val="FFFFFF"/>
                </a:solidFill>
                <a:ea typeface="Hallym Gothic Bold"/>
              </a:rPr>
              <a:t>경쟁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E466A9C-59C1-FEDD-2BBB-8048A31A771F}"/>
              </a:ext>
            </a:extLst>
          </p:cNvPr>
          <p:cNvSpPr txBox="1"/>
          <p:nvPr/>
        </p:nvSpPr>
        <p:spPr>
          <a:xfrm>
            <a:off x="2044700" y="3071991"/>
            <a:ext cx="14249400" cy="7473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600" dirty="0">
                <a:latin typeface="프리젠테이션 6 SemiBold" pitchFamily="2" charset="-127"/>
                <a:ea typeface="프리젠테이션 6 SemiBold" pitchFamily="2" charset="-127"/>
              </a:rPr>
              <a:t>3. </a:t>
            </a:r>
            <a:r>
              <a:rPr lang="ko-KR" altLang="en-US" sz="3600" dirty="0">
                <a:latin typeface="프리젠테이션 6 SemiBold" pitchFamily="2" charset="-127"/>
                <a:ea typeface="프리젠테이션 6 SemiBold" pitchFamily="2" charset="-127"/>
              </a:rPr>
              <a:t>평가 지표의 정밀성 향상</a:t>
            </a:r>
          </a:p>
          <a:p>
            <a:pPr>
              <a:lnSpc>
                <a:spcPct val="150000"/>
              </a:lnSpc>
            </a:pP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-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운용 자금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추적 오차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샤프지수 등을 평가 지표로 추가</a:t>
            </a:r>
            <a:endParaRPr lang="en-US" altLang="ko-KR" sz="36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-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장기적 시계열 데이터로의 확장</a:t>
            </a:r>
            <a:endParaRPr lang="en-US" altLang="ko-KR" sz="36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=&gt; 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기존 평가 지표의 이동평균 등 계산해 추세 반영</a:t>
            </a:r>
            <a:endParaRPr lang="en-US" altLang="ko-KR" sz="36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3600">
                <a:latin typeface="프리젠테이션 6 SemiBold" pitchFamily="2" charset="-127"/>
                <a:ea typeface="프리젠테이션 6 SemiBold" pitchFamily="2" charset="-127"/>
              </a:rPr>
              <a:t>4. </a:t>
            </a:r>
            <a:r>
              <a:rPr lang="en-US" altLang="ko-KR" sz="3600" dirty="0">
                <a:latin typeface="프리젠테이션 6 SemiBold" pitchFamily="2" charset="-127"/>
                <a:ea typeface="프리젠테이션 6 SemiBold" pitchFamily="2" charset="-127"/>
              </a:rPr>
              <a:t>RAG </a:t>
            </a:r>
            <a:r>
              <a:rPr lang="ko-KR" altLang="en-US" sz="3600" dirty="0">
                <a:latin typeface="프리젠테이션 6 SemiBold" pitchFamily="2" charset="-127"/>
                <a:ea typeface="프리젠테이션 6 SemiBold" pitchFamily="2" charset="-127"/>
              </a:rPr>
              <a:t>활용으로 데이터 품질 향상</a:t>
            </a:r>
          </a:p>
          <a:p>
            <a:pPr>
              <a:lnSpc>
                <a:spcPct val="150000"/>
              </a:lnSpc>
            </a:pP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-ETF 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및 최신 뉴스 데이터베이스를 구축 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=&gt; RAG 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방식 활용</a:t>
            </a:r>
            <a:endParaRPr lang="en-US" altLang="ko-KR" sz="36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-Perplexity 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대신 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RAG 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사용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ko-KR" altLang="en-US" sz="3600" dirty="0" err="1">
                <a:latin typeface="프리젠테이션 4 Regular" pitchFamily="2" charset="-127"/>
                <a:ea typeface="프리젠테이션 4 Regular" pitchFamily="2" charset="-127"/>
              </a:rPr>
              <a:t>할루시네이션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  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&amp; 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대규모 데이터를 기반으로 보고서 작성</a:t>
            </a:r>
            <a:endParaRPr lang="en-US" altLang="ko-KR" sz="36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lnSpc>
                <a:spcPct val="150000"/>
              </a:lnSpc>
            </a:pPr>
            <a:endParaRPr lang="ko-KR" altLang="en-US" sz="36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D77419CE-315A-919D-5742-98AFC0837450}"/>
              </a:ext>
            </a:extLst>
          </p:cNvPr>
          <p:cNvCxnSpPr>
            <a:cxnSpLocks/>
          </p:cNvCxnSpPr>
          <p:nvPr/>
        </p:nvCxnSpPr>
        <p:spPr>
          <a:xfrm>
            <a:off x="8991600" y="8318500"/>
            <a:ext cx="0" cy="4064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78437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0" y="1816100"/>
            <a:ext cx="4533900" cy="8470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3900" y="0"/>
            <a:ext cx="12293600" cy="640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4533900" y="6400800"/>
            <a:ext cx="12293600" cy="4152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28600" y="6096000"/>
            <a:ext cx="4000500" cy="45974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7213600" y="2286000"/>
            <a:ext cx="8686800" cy="173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sz="9800" b="0" i="0" u="none" strike="noStrike">
                <a:solidFill>
                  <a:srgbClr val="FFFFFF"/>
                </a:solidFill>
                <a:ea typeface="Hallym Gothic Bold"/>
              </a:rPr>
              <a:t>감사합니다</a:t>
            </a:r>
          </a:p>
        </p:txBody>
      </p:sp>
      <p:sp>
        <p:nvSpPr>
          <p:cNvPr id="7" name="TextBox 7"/>
          <p:cNvSpPr txBox="1"/>
          <p:nvPr/>
        </p:nvSpPr>
        <p:spPr>
          <a:xfrm rot="5400000">
            <a:off x="15074900" y="7226300"/>
            <a:ext cx="49657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altLang="en-US" sz="2300" b="0" i="0" u="none" strike="noStrike" spc="700" dirty="0">
                <a:solidFill>
                  <a:srgbClr val="004671"/>
                </a:solidFill>
                <a:latin typeface="Hallym Gothic Bold"/>
                <a:ea typeface="Hallym Gothic Bold"/>
              </a:rPr>
              <a:t>레몬워터</a:t>
            </a:r>
            <a:endParaRPr lang="ko-KR" sz="2300" b="0" i="0" u="none" strike="noStrike" spc="700" dirty="0">
              <a:solidFill>
                <a:srgbClr val="004671"/>
              </a:solidFill>
              <a:ea typeface="Hallym Gothic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1509</Words>
  <Application>Microsoft Office PowerPoint</Application>
  <PresentationFormat>사용자 지정</PresentationFormat>
  <Paragraphs>246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30" baseType="lpstr">
      <vt:lpstr>Hallym Gothic Bold</vt:lpstr>
      <vt:lpstr>프리젠테이션 5 Medium</vt:lpstr>
      <vt:lpstr>Atomy Medium</vt:lpstr>
      <vt:lpstr>프리젠테이션 6 SemiBold</vt:lpstr>
      <vt:lpstr>프리젠테이션 7 Bold</vt:lpstr>
      <vt:lpstr>Arial</vt:lpstr>
      <vt:lpstr>프리젠테이션 4 Regular</vt:lpstr>
      <vt:lpstr>Calibri</vt:lpstr>
      <vt:lpstr>Hallym Gothic Medium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민지 박</cp:lastModifiedBy>
  <cp:revision>23</cp:revision>
  <dcterms:created xsi:type="dcterms:W3CDTF">2006-08-16T00:00:00Z</dcterms:created>
  <dcterms:modified xsi:type="dcterms:W3CDTF">2024-11-16T15:33:46Z</dcterms:modified>
</cp:coreProperties>
</file>